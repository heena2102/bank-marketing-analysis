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3" r:id="rId7"/>
    <p:sldId id="261" r:id="rId8"/>
    <p:sldId id="262"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566160"/>
            <a:ext cx="12188952" cy="7315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914400"/>
            <a:ext cx="10972800" cy="868680"/>
          </a:xfrm>
          <a:prstGeom prst="rect">
            <a:avLst/>
          </a:prstGeom>
          <a:noFill/>
        </p:spPr>
        <p:txBody>
          <a:bodyPr wrap="square">
            <a:spAutoFit/>
          </a:bodyPr>
          <a:lstStyle/>
          <a:p>
            <a:pPr algn="ctr"/>
            <a:r>
              <a:rPr sz="5200" b="1" i="0">
                <a:solidFill>
                  <a:srgbClr val="FFFFFF"/>
                </a:solidFill>
                <a:latin typeface="Times New Roman"/>
              </a:rPr>
              <a:t>Bank Marketing</a:t>
            </a:r>
          </a:p>
        </p:txBody>
      </p:sp>
      <p:sp>
        <p:nvSpPr>
          <p:cNvPr id="5" name="TextBox 4"/>
          <p:cNvSpPr txBox="1"/>
          <p:nvPr/>
        </p:nvSpPr>
        <p:spPr>
          <a:xfrm>
            <a:off x="548640" y="1737360"/>
            <a:ext cx="10972800" cy="640080"/>
          </a:xfrm>
          <a:prstGeom prst="rect">
            <a:avLst/>
          </a:prstGeom>
          <a:noFill/>
        </p:spPr>
        <p:txBody>
          <a:bodyPr wrap="square">
            <a:spAutoFit/>
          </a:bodyPr>
          <a:lstStyle/>
          <a:p>
            <a:pPr algn="ctr"/>
            <a:r>
              <a:rPr sz="3000" b="0" i="0">
                <a:solidFill>
                  <a:srgbClr val="C9A02A"/>
                </a:solidFill>
                <a:latin typeface="Times New Roman"/>
              </a:rPr>
              <a:t>Term Deposit Subscription Prediction</a:t>
            </a:r>
          </a:p>
        </p:txBody>
      </p:sp>
      <p:sp>
        <p:nvSpPr>
          <p:cNvPr id="6" name="Rectangle 5"/>
          <p:cNvSpPr/>
          <p:nvPr/>
        </p:nvSpPr>
        <p:spPr>
          <a:xfrm>
            <a:off x="3200400" y="2514600"/>
            <a:ext cx="5760720" cy="54864"/>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697480"/>
            <a:ext cx="10972800" cy="457200"/>
          </a:xfrm>
          <a:prstGeom prst="rect">
            <a:avLst/>
          </a:prstGeom>
          <a:noFill/>
        </p:spPr>
        <p:txBody>
          <a:bodyPr wrap="square">
            <a:spAutoFit/>
          </a:bodyPr>
          <a:lstStyle/>
          <a:p>
            <a:pPr algn="ctr"/>
            <a:r>
              <a:rPr sz="2000" b="0" i="1">
                <a:solidFill>
                  <a:srgbClr val="FFFFFF"/>
                </a:solidFill>
                <a:latin typeface="Times New Roman"/>
              </a:rPr>
              <a:t>MBA Machine Learning Project</a:t>
            </a:r>
          </a:p>
        </p:txBody>
      </p:sp>
      <p:sp>
        <p:nvSpPr>
          <p:cNvPr id="8" name="Rectangle 7"/>
          <p:cNvSpPr/>
          <p:nvPr/>
        </p:nvSpPr>
        <p:spPr>
          <a:xfrm>
            <a:off x="2286000" y="3474720"/>
            <a:ext cx="7589520" cy="1005840"/>
          </a:xfrm>
          <a:prstGeom prst="rect">
            <a:avLst/>
          </a:prstGeom>
          <a:solidFill>
            <a:srgbClr val="254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68880" y="3566160"/>
            <a:ext cx="7315200" cy="822960"/>
          </a:xfrm>
          <a:prstGeom prst="rect">
            <a:avLst/>
          </a:prstGeom>
          <a:noFill/>
        </p:spPr>
        <p:txBody>
          <a:bodyPr wrap="square">
            <a:spAutoFit/>
          </a:bodyPr>
          <a:lstStyle/>
          <a:p>
            <a:pPr algn="ctr"/>
            <a:r>
              <a:rPr sz="1800" b="0" i="0">
                <a:solidFill>
                  <a:srgbClr val="FFFFFF"/>
                </a:solidFill>
                <a:latin typeface="Times New Roman"/>
              </a:rPr>
              <a:t>Only 11% of calls converted — Machine Learning identifies who to call next.</a:t>
            </a:r>
          </a:p>
        </p:txBody>
      </p:sp>
      <p:sp>
        <p:nvSpPr>
          <p:cNvPr id="10" name="TextBox 9"/>
          <p:cNvSpPr txBox="1"/>
          <p:nvPr/>
        </p:nvSpPr>
        <p:spPr>
          <a:xfrm>
            <a:off x="548640" y="4754880"/>
            <a:ext cx="10972800" cy="365760"/>
          </a:xfrm>
          <a:prstGeom prst="rect">
            <a:avLst/>
          </a:prstGeom>
          <a:noFill/>
        </p:spPr>
        <p:txBody>
          <a:bodyPr wrap="square">
            <a:spAutoFit/>
          </a:bodyPr>
          <a:lstStyle/>
          <a:p>
            <a:pPr algn="ctr"/>
            <a:r>
              <a:rPr sz="1400" b="0" i="0">
                <a:solidFill>
                  <a:srgbClr val="AABBCC"/>
                </a:solidFill>
                <a:latin typeface="Times New Roman"/>
              </a:rPr>
              <a:t>Dataset: UCI Bank Marketing  |  41,188 calls  |  Portuguese bank  |  2008–2010</a:t>
            </a:r>
          </a:p>
        </p:txBody>
      </p:sp>
      <p:sp>
        <p:nvSpPr>
          <p:cNvPr id="11" name="TextBox 10"/>
          <p:cNvSpPr txBox="1"/>
          <p:nvPr/>
        </p:nvSpPr>
        <p:spPr>
          <a:xfrm>
            <a:off x="4846320" y="5349240"/>
            <a:ext cx="5486400" cy="246221"/>
          </a:xfrm>
          <a:prstGeom prst="rect">
            <a:avLst/>
          </a:prstGeom>
          <a:noFill/>
        </p:spPr>
        <p:txBody>
          <a:bodyPr wrap="square">
            <a:spAutoFit/>
          </a:bodyPr>
          <a:lstStyle/>
          <a:p>
            <a:pPr algn="l"/>
            <a:r>
              <a:rPr lang="en-IN" sz="1000" i="1" dirty="0">
                <a:solidFill>
                  <a:schemeClr val="bg1"/>
                </a:solidFill>
                <a:latin typeface="Times New Roman"/>
              </a:rPr>
              <a:t>Heena Kauser | 2527724</a:t>
            </a:r>
            <a:endParaRPr sz="1000" b="0" i="1" dirty="0">
              <a:solidFill>
                <a:schemeClr val="bg1"/>
              </a:solidFill>
              <a:latin typeface="Times New Roman"/>
            </a:endParaRPr>
          </a:p>
        </p:txBody>
      </p:sp>
      <p:sp>
        <p:nvSpPr>
          <p:cNvPr id="12" name="TextBox 11"/>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1 of 8</a:t>
            </a:r>
          </a:p>
        </p:txBody>
      </p:sp>
      <p:sp>
        <p:nvSpPr>
          <p:cNvPr id="13" name="Rectangle 12"/>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3444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30000" cy="685800"/>
          </a:xfrm>
          <a:prstGeom prst="rect">
            <a:avLst/>
          </a:prstGeom>
          <a:noFill/>
        </p:spPr>
        <p:txBody>
          <a:bodyPr wrap="square">
            <a:spAutoFit/>
          </a:bodyPr>
          <a:lstStyle/>
          <a:p>
            <a:pPr algn="l"/>
            <a:r>
              <a:rPr sz="3000" b="1" i="0">
                <a:solidFill>
                  <a:srgbClr val="FFFFFF"/>
                </a:solidFill>
                <a:latin typeface="Times New Roman"/>
              </a:rPr>
              <a:t>The Problem and the Data</a:t>
            </a:r>
          </a:p>
        </p:txBody>
      </p:sp>
      <p:sp>
        <p:nvSpPr>
          <p:cNvPr id="6" name="TextBox 5"/>
          <p:cNvSpPr txBox="1"/>
          <p:nvPr/>
        </p:nvSpPr>
        <p:spPr>
          <a:xfrm>
            <a:off x="365760" y="804672"/>
            <a:ext cx="11430000" cy="365760"/>
          </a:xfrm>
          <a:prstGeom prst="rect">
            <a:avLst/>
          </a:prstGeom>
          <a:noFill/>
        </p:spPr>
        <p:txBody>
          <a:bodyPr wrap="square">
            <a:spAutoFit/>
          </a:bodyPr>
          <a:lstStyle/>
          <a:p>
            <a:pPr algn="l"/>
            <a:r>
              <a:rPr sz="1600" b="0" i="1">
                <a:solidFill>
                  <a:srgbClr val="C9A02A"/>
                </a:solidFill>
                <a:latin typeface="Times New Roman"/>
              </a:rPr>
              <a:t>Why the bank needed machine learning</a:t>
            </a:r>
          </a:p>
        </p:txBody>
      </p:sp>
      <p:sp>
        <p:nvSpPr>
          <p:cNvPr id="7" name="Rectangle 6"/>
          <p:cNvSpPr/>
          <p:nvPr/>
        </p:nvSpPr>
        <p:spPr>
          <a:xfrm>
            <a:off x="274320" y="1463040"/>
            <a:ext cx="5394960" cy="4754880"/>
          </a:xfrm>
          <a:prstGeom prst="rect">
            <a:avLst/>
          </a:prstGeom>
          <a:solidFill>
            <a:srgbClr val="FFFFFF"/>
          </a:solidFill>
          <a:ln w="1524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600200"/>
            <a:ext cx="5120640" cy="365760"/>
          </a:xfrm>
          <a:prstGeom prst="rect">
            <a:avLst/>
          </a:prstGeom>
          <a:noFill/>
        </p:spPr>
        <p:txBody>
          <a:bodyPr wrap="square">
            <a:spAutoFit/>
          </a:bodyPr>
          <a:lstStyle/>
          <a:p>
            <a:pPr algn="l"/>
            <a:r>
              <a:rPr sz="1300" b="1" i="0">
                <a:solidFill>
                  <a:srgbClr val="1A2E4A"/>
                </a:solidFill>
                <a:latin typeface="Times New Roman"/>
              </a:rPr>
              <a:t>THE BUSINESS PROBLEM</a:t>
            </a:r>
          </a:p>
        </p:txBody>
      </p:sp>
      <p:sp>
        <p:nvSpPr>
          <p:cNvPr id="9" name="Rectangle 8"/>
          <p:cNvSpPr/>
          <p:nvPr/>
        </p:nvSpPr>
        <p:spPr>
          <a:xfrm>
            <a:off x="411480" y="1993392"/>
            <a:ext cx="5120640"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2103120"/>
            <a:ext cx="5120640" cy="3840480"/>
          </a:xfrm>
          <a:prstGeom prst="rect">
            <a:avLst/>
          </a:prstGeom>
          <a:noFill/>
        </p:spPr>
        <p:txBody>
          <a:bodyPr wrap="square">
            <a:spAutoFit/>
          </a:bodyPr>
          <a:lstStyle/>
          <a:p>
            <a:pPr>
              <a:spcBef>
                <a:spcPts val="800"/>
              </a:spcBef>
            </a:pPr>
            <a:r>
              <a:rPr sz="1500" b="0">
                <a:solidFill>
                  <a:srgbClr val="1A2E4A"/>
                </a:solidFill>
                <a:latin typeface="Times New Roman"/>
              </a:rPr>
              <a:t>•  89% of calls result in no subscription</a:t>
            </a:r>
          </a:p>
          <a:p>
            <a:pPr>
              <a:spcBef>
                <a:spcPts val="800"/>
              </a:spcBef>
            </a:pPr>
            <a:r>
              <a:rPr sz="1500" b="0">
                <a:solidFill>
                  <a:srgbClr val="1A2E4A"/>
                </a:solidFill>
                <a:latin typeface="Times New Roman"/>
              </a:rPr>
              <a:t>•  Agents call blind — no way to prioritise leads</a:t>
            </a:r>
          </a:p>
          <a:p>
            <a:pPr>
              <a:spcBef>
                <a:spcPts val="800"/>
              </a:spcBef>
            </a:pPr>
            <a:r>
              <a:rPr sz="1500" b="0">
                <a:solidFill>
                  <a:srgbClr val="1A2E4A"/>
                </a:solidFill>
                <a:latin typeface="Times New Roman"/>
              </a:rPr>
              <a:t>•  Same effort wasted on poor-fit customers</a:t>
            </a:r>
          </a:p>
          <a:p>
            <a:pPr>
              <a:spcBef>
                <a:spcPts val="800"/>
              </a:spcBef>
            </a:pPr>
            <a:r>
              <a:rPr sz="1500" b="0">
                <a:solidFill>
                  <a:srgbClr val="1A2E4A"/>
                </a:solidFill>
                <a:latin typeface="Times New Roman"/>
              </a:rPr>
              <a:t>•  Cost of calling 8 people to get 1 subscriber</a:t>
            </a:r>
          </a:p>
          <a:p>
            <a:pPr>
              <a:spcBef>
                <a:spcPts val="800"/>
              </a:spcBef>
            </a:pPr>
            <a:r>
              <a:rPr sz="1500" b="1">
                <a:solidFill>
                  <a:srgbClr val="1A2E4A"/>
                </a:solidFill>
                <a:latin typeface="Times New Roman"/>
              </a:rPr>
              <a:t>➤  Goal: predict who will subscribe BEFORE calling</a:t>
            </a:r>
          </a:p>
        </p:txBody>
      </p:sp>
      <p:sp>
        <p:nvSpPr>
          <p:cNvPr id="11" name="Rectangle 10"/>
          <p:cNvSpPr/>
          <p:nvPr/>
        </p:nvSpPr>
        <p:spPr>
          <a:xfrm>
            <a:off x="5943600" y="1463040"/>
            <a:ext cx="5943600" cy="4754880"/>
          </a:xfrm>
          <a:prstGeom prst="rect">
            <a:avLst/>
          </a:prstGeom>
          <a:solidFill>
            <a:srgbClr val="FFFFFF"/>
          </a:solidFill>
          <a:ln w="1524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1600200"/>
            <a:ext cx="5669280" cy="365760"/>
          </a:xfrm>
          <a:prstGeom prst="rect">
            <a:avLst/>
          </a:prstGeom>
          <a:noFill/>
        </p:spPr>
        <p:txBody>
          <a:bodyPr wrap="square">
            <a:spAutoFit/>
          </a:bodyPr>
          <a:lstStyle/>
          <a:p>
            <a:pPr algn="l"/>
            <a:r>
              <a:rPr sz="1300" b="1" i="0">
                <a:solidFill>
                  <a:srgbClr val="1A2E4A"/>
                </a:solidFill>
                <a:latin typeface="Times New Roman"/>
              </a:rPr>
              <a:t>THE DATASET</a:t>
            </a:r>
          </a:p>
        </p:txBody>
      </p:sp>
      <p:sp>
        <p:nvSpPr>
          <p:cNvPr id="13" name="Rectangle 12"/>
          <p:cNvSpPr/>
          <p:nvPr/>
        </p:nvSpPr>
        <p:spPr>
          <a:xfrm>
            <a:off x="6080760" y="1993392"/>
            <a:ext cx="5669280"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35040" y="2148840"/>
            <a:ext cx="1143000" cy="5943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35040" y="2199640"/>
            <a:ext cx="1143000" cy="411480"/>
          </a:xfrm>
          <a:prstGeom prst="rect">
            <a:avLst/>
          </a:prstGeom>
          <a:noFill/>
        </p:spPr>
        <p:txBody>
          <a:bodyPr wrap="square">
            <a:spAutoFit/>
          </a:bodyPr>
          <a:lstStyle/>
          <a:p>
            <a:pPr algn="ctr"/>
            <a:r>
              <a:rPr sz="1800" b="1" i="0">
                <a:solidFill>
                  <a:srgbClr val="C9A02A"/>
                </a:solidFill>
                <a:latin typeface="Times New Roman"/>
              </a:rPr>
              <a:t>41,188</a:t>
            </a:r>
          </a:p>
        </p:txBody>
      </p:sp>
      <p:sp>
        <p:nvSpPr>
          <p:cNvPr id="16" name="TextBox 15"/>
          <p:cNvSpPr txBox="1"/>
          <p:nvPr/>
        </p:nvSpPr>
        <p:spPr>
          <a:xfrm>
            <a:off x="7269480" y="2275840"/>
            <a:ext cx="4572000" cy="457200"/>
          </a:xfrm>
          <a:prstGeom prst="rect">
            <a:avLst/>
          </a:prstGeom>
          <a:noFill/>
        </p:spPr>
        <p:txBody>
          <a:bodyPr wrap="square">
            <a:spAutoFit/>
          </a:bodyPr>
          <a:lstStyle/>
          <a:p>
            <a:pPr algn="l"/>
            <a:r>
              <a:rPr sz="1300" b="0" i="0">
                <a:solidFill>
                  <a:srgbClr val="1A2E4A"/>
                </a:solidFill>
                <a:latin typeface="Times New Roman"/>
              </a:rPr>
              <a:t>customer call records</a:t>
            </a:r>
          </a:p>
        </p:txBody>
      </p:sp>
      <p:sp>
        <p:nvSpPr>
          <p:cNvPr id="17" name="Rectangle 16"/>
          <p:cNvSpPr/>
          <p:nvPr/>
        </p:nvSpPr>
        <p:spPr>
          <a:xfrm>
            <a:off x="6035040" y="2916936"/>
            <a:ext cx="1143000" cy="5943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0" y="2967736"/>
            <a:ext cx="1143000" cy="411480"/>
          </a:xfrm>
          <a:prstGeom prst="rect">
            <a:avLst/>
          </a:prstGeom>
          <a:noFill/>
        </p:spPr>
        <p:txBody>
          <a:bodyPr wrap="square">
            <a:spAutoFit/>
          </a:bodyPr>
          <a:lstStyle/>
          <a:p>
            <a:pPr algn="ctr"/>
            <a:r>
              <a:rPr sz="1800" b="1" i="0">
                <a:solidFill>
                  <a:srgbClr val="C9A02A"/>
                </a:solidFill>
                <a:latin typeface="Times New Roman"/>
              </a:rPr>
              <a:t>21</a:t>
            </a:r>
          </a:p>
        </p:txBody>
      </p:sp>
      <p:sp>
        <p:nvSpPr>
          <p:cNvPr id="19" name="TextBox 18"/>
          <p:cNvSpPr txBox="1"/>
          <p:nvPr/>
        </p:nvSpPr>
        <p:spPr>
          <a:xfrm>
            <a:off x="7269480" y="3043936"/>
            <a:ext cx="4572000" cy="457200"/>
          </a:xfrm>
          <a:prstGeom prst="rect">
            <a:avLst/>
          </a:prstGeom>
          <a:noFill/>
        </p:spPr>
        <p:txBody>
          <a:bodyPr wrap="square">
            <a:spAutoFit/>
          </a:bodyPr>
          <a:lstStyle/>
          <a:p>
            <a:pPr algn="l"/>
            <a:r>
              <a:rPr sz="1300" b="0" i="0">
                <a:solidFill>
                  <a:srgbClr val="1A2E4A"/>
                </a:solidFill>
                <a:latin typeface="Times New Roman"/>
              </a:rPr>
              <a:t>features per record</a:t>
            </a:r>
          </a:p>
        </p:txBody>
      </p:sp>
      <p:sp>
        <p:nvSpPr>
          <p:cNvPr id="20" name="Rectangle 19"/>
          <p:cNvSpPr/>
          <p:nvPr/>
        </p:nvSpPr>
        <p:spPr>
          <a:xfrm>
            <a:off x="6035040" y="3685032"/>
            <a:ext cx="1143000" cy="5943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3735832"/>
            <a:ext cx="1143000" cy="411480"/>
          </a:xfrm>
          <a:prstGeom prst="rect">
            <a:avLst/>
          </a:prstGeom>
          <a:noFill/>
        </p:spPr>
        <p:txBody>
          <a:bodyPr wrap="square">
            <a:spAutoFit/>
          </a:bodyPr>
          <a:lstStyle/>
          <a:p>
            <a:pPr algn="ctr"/>
            <a:r>
              <a:rPr sz="1800" b="1" i="0">
                <a:solidFill>
                  <a:srgbClr val="C9A02A"/>
                </a:solidFill>
                <a:latin typeface="Times New Roman"/>
              </a:rPr>
              <a:t>11.3%</a:t>
            </a:r>
          </a:p>
        </p:txBody>
      </p:sp>
      <p:sp>
        <p:nvSpPr>
          <p:cNvPr id="22" name="TextBox 21"/>
          <p:cNvSpPr txBox="1"/>
          <p:nvPr/>
        </p:nvSpPr>
        <p:spPr>
          <a:xfrm>
            <a:off x="7269480" y="3812032"/>
            <a:ext cx="4572000" cy="457200"/>
          </a:xfrm>
          <a:prstGeom prst="rect">
            <a:avLst/>
          </a:prstGeom>
          <a:noFill/>
        </p:spPr>
        <p:txBody>
          <a:bodyPr wrap="square">
            <a:spAutoFit/>
          </a:bodyPr>
          <a:lstStyle/>
          <a:p>
            <a:pPr algn="l"/>
            <a:r>
              <a:rPr sz="1300" b="0" i="0">
                <a:solidFill>
                  <a:srgbClr val="1A2E4A"/>
                </a:solidFill>
                <a:latin typeface="Times New Roman"/>
              </a:rPr>
              <a:t>subscription rate (target)</a:t>
            </a:r>
          </a:p>
        </p:txBody>
      </p:sp>
      <p:sp>
        <p:nvSpPr>
          <p:cNvPr id="23" name="Rectangle 22"/>
          <p:cNvSpPr/>
          <p:nvPr/>
        </p:nvSpPr>
        <p:spPr>
          <a:xfrm>
            <a:off x="6035040" y="4453128"/>
            <a:ext cx="1143000" cy="5943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0" y="4503928"/>
            <a:ext cx="1143000" cy="411480"/>
          </a:xfrm>
          <a:prstGeom prst="rect">
            <a:avLst/>
          </a:prstGeom>
          <a:noFill/>
        </p:spPr>
        <p:txBody>
          <a:bodyPr wrap="square">
            <a:spAutoFit/>
          </a:bodyPr>
          <a:lstStyle/>
          <a:p>
            <a:pPr algn="ctr"/>
            <a:r>
              <a:rPr sz="1800" b="1" i="0">
                <a:solidFill>
                  <a:srgbClr val="C9A02A"/>
                </a:solidFill>
                <a:latin typeface="Times New Roman"/>
              </a:rPr>
              <a:t>2008–10</a:t>
            </a:r>
          </a:p>
        </p:txBody>
      </p:sp>
      <p:sp>
        <p:nvSpPr>
          <p:cNvPr id="25" name="TextBox 24"/>
          <p:cNvSpPr txBox="1"/>
          <p:nvPr/>
        </p:nvSpPr>
        <p:spPr>
          <a:xfrm>
            <a:off x="7269480" y="4580128"/>
            <a:ext cx="4572000" cy="457200"/>
          </a:xfrm>
          <a:prstGeom prst="rect">
            <a:avLst/>
          </a:prstGeom>
          <a:noFill/>
        </p:spPr>
        <p:txBody>
          <a:bodyPr wrap="square">
            <a:spAutoFit/>
          </a:bodyPr>
          <a:lstStyle/>
          <a:p>
            <a:pPr algn="l"/>
            <a:r>
              <a:rPr sz="1300" b="0" i="0">
                <a:solidFill>
                  <a:srgbClr val="1A2E4A"/>
                </a:solidFill>
                <a:latin typeface="Times New Roman"/>
              </a:rPr>
              <a:t>campaign period</a:t>
            </a:r>
          </a:p>
        </p:txBody>
      </p:sp>
      <p:sp>
        <p:nvSpPr>
          <p:cNvPr id="26" name="Rectangle 25"/>
          <p:cNvSpPr/>
          <p:nvPr/>
        </p:nvSpPr>
        <p:spPr>
          <a:xfrm>
            <a:off x="6035040" y="5221224"/>
            <a:ext cx="1143000" cy="59436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35040" y="5272024"/>
            <a:ext cx="1143000" cy="411480"/>
          </a:xfrm>
          <a:prstGeom prst="rect">
            <a:avLst/>
          </a:prstGeom>
          <a:noFill/>
        </p:spPr>
        <p:txBody>
          <a:bodyPr wrap="square">
            <a:spAutoFit/>
          </a:bodyPr>
          <a:lstStyle/>
          <a:p>
            <a:pPr algn="ctr"/>
            <a:r>
              <a:rPr sz="1800" b="1" i="0">
                <a:solidFill>
                  <a:srgbClr val="C9A02A"/>
                </a:solidFill>
                <a:latin typeface="Times New Roman"/>
              </a:rPr>
              <a:t>0</a:t>
            </a:r>
          </a:p>
        </p:txBody>
      </p:sp>
      <p:sp>
        <p:nvSpPr>
          <p:cNvPr id="28" name="TextBox 27"/>
          <p:cNvSpPr txBox="1"/>
          <p:nvPr/>
        </p:nvSpPr>
        <p:spPr>
          <a:xfrm>
            <a:off x="7269480" y="5348224"/>
            <a:ext cx="4572000" cy="457200"/>
          </a:xfrm>
          <a:prstGeom prst="rect">
            <a:avLst/>
          </a:prstGeom>
          <a:noFill/>
        </p:spPr>
        <p:txBody>
          <a:bodyPr wrap="square">
            <a:spAutoFit/>
          </a:bodyPr>
          <a:lstStyle/>
          <a:p>
            <a:pPr algn="l"/>
            <a:r>
              <a:rPr sz="1300" b="0" i="0">
                <a:solidFill>
                  <a:srgbClr val="1A2E4A"/>
                </a:solidFill>
                <a:latin typeface="Times New Roman"/>
              </a:rPr>
              <a:t>true missing values (unknown kept as signal)</a:t>
            </a:r>
          </a:p>
        </p:txBody>
      </p:sp>
      <p:sp>
        <p:nvSpPr>
          <p:cNvPr id="29" name="TextBox 28"/>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30" name="TextBox 29"/>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2 of 8</a:t>
            </a:r>
          </a:p>
        </p:txBody>
      </p:sp>
      <p:sp>
        <p:nvSpPr>
          <p:cNvPr id="31" name="Rectangle 30"/>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3444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30000" cy="685800"/>
          </a:xfrm>
          <a:prstGeom prst="rect">
            <a:avLst/>
          </a:prstGeom>
          <a:noFill/>
        </p:spPr>
        <p:txBody>
          <a:bodyPr wrap="square">
            <a:spAutoFit/>
          </a:bodyPr>
          <a:lstStyle/>
          <a:p>
            <a:pPr algn="l"/>
            <a:r>
              <a:rPr sz="3000" b="1" i="0">
                <a:solidFill>
                  <a:srgbClr val="FFFFFF"/>
                </a:solidFill>
                <a:latin typeface="Times New Roman"/>
              </a:rPr>
              <a:t>Methodology</a:t>
            </a:r>
          </a:p>
        </p:txBody>
      </p:sp>
      <p:sp>
        <p:nvSpPr>
          <p:cNvPr id="6" name="TextBox 5"/>
          <p:cNvSpPr txBox="1"/>
          <p:nvPr/>
        </p:nvSpPr>
        <p:spPr>
          <a:xfrm>
            <a:off x="365760" y="804672"/>
            <a:ext cx="11430000" cy="365760"/>
          </a:xfrm>
          <a:prstGeom prst="rect">
            <a:avLst/>
          </a:prstGeom>
          <a:noFill/>
        </p:spPr>
        <p:txBody>
          <a:bodyPr wrap="square">
            <a:spAutoFit/>
          </a:bodyPr>
          <a:lstStyle/>
          <a:p>
            <a:pPr algn="l"/>
            <a:r>
              <a:rPr sz="1600" b="0" i="1">
                <a:solidFill>
                  <a:srgbClr val="C9A02A"/>
                </a:solidFill>
                <a:latin typeface="Times New Roman"/>
              </a:rPr>
              <a:t>8 stages from raw data to production-ready models</a:t>
            </a:r>
          </a:p>
        </p:txBody>
      </p:sp>
      <p:sp>
        <p:nvSpPr>
          <p:cNvPr id="7" name="Rectangle 6"/>
          <p:cNvSpPr/>
          <p:nvPr/>
        </p:nvSpPr>
        <p:spPr>
          <a:xfrm>
            <a:off x="228600" y="146304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46304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5176" y="1488440"/>
            <a:ext cx="457200" cy="457200"/>
          </a:xfrm>
          <a:prstGeom prst="rect">
            <a:avLst/>
          </a:prstGeom>
          <a:noFill/>
        </p:spPr>
        <p:txBody>
          <a:bodyPr wrap="square">
            <a:spAutoFit/>
          </a:bodyPr>
          <a:lstStyle/>
          <a:p>
            <a:pPr algn="ctr"/>
            <a:r>
              <a:rPr sz="1600" b="1" i="0">
                <a:solidFill>
                  <a:srgbClr val="C9A02A"/>
                </a:solidFill>
                <a:latin typeface="Times New Roman"/>
              </a:rPr>
              <a:t>1</a:t>
            </a:r>
          </a:p>
        </p:txBody>
      </p:sp>
      <p:sp>
        <p:nvSpPr>
          <p:cNvPr id="10" name="TextBox 9"/>
          <p:cNvSpPr txBox="1"/>
          <p:nvPr/>
        </p:nvSpPr>
        <p:spPr>
          <a:xfrm>
            <a:off x="301752" y="2029968"/>
            <a:ext cx="2688336" cy="457200"/>
          </a:xfrm>
          <a:prstGeom prst="rect">
            <a:avLst/>
          </a:prstGeom>
          <a:noFill/>
        </p:spPr>
        <p:txBody>
          <a:bodyPr wrap="square">
            <a:spAutoFit/>
          </a:bodyPr>
          <a:lstStyle/>
          <a:p>
            <a:pPr algn="l"/>
            <a:r>
              <a:rPr sz="1300" b="1" i="0">
                <a:solidFill>
                  <a:srgbClr val="1A2E4A"/>
                </a:solidFill>
                <a:latin typeface="Times New Roman"/>
              </a:rPr>
              <a:t>Data Exploration</a:t>
            </a:r>
          </a:p>
        </p:txBody>
      </p:sp>
      <p:sp>
        <p:nvSpPr>
          <p:cNvPr id="11" name="Rectangle 10"/>
          <p:cNvSpPr/>
          <p:nvPr/>
        </p:nvSpPr>
        <p:spPr>
          <a:xfrm>
            <a:off x="301752" y="248716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578608"/>
            <a:ext cx="2651760" cy="914400"/>
          </a:xfrm>
          <a:prstGeom prst="rect">
            <a:avLst/>
          </a:prstGeom>
          <a:noFill/>
        </p:spPr>
        <p:txBody>
          <a:bodyPr wrap="square">
            <a:spAutoFit/>
          </a:bodyPr>
          <a:lstStyle/>
          <a:p>
            <a:pPr algn="l"/>
            <a:r>
              <a:rPr sz="1150" b="0" i="0">
                <a:solidFill>
                  <a:srgbClr val="1A2E4A"/>
                </a:solidFill>
                <a:latin typeface="Times New Roman"/>
              </a:rPr>
              <a:t>Identified class imbalance (11% yes) and hidden unknowns</a:t>
            </a:r>
          </a:p>
        </p:txBody>
      </p:sp>
      <p:sp>
        <p:nvSpPr>
          <p:cNvPr id="13" name="Rectangle 12"/>
          <p:cNvSpPr/>
          <p:nvPr/>
        </p:nvSpPr>
        <p:spPr>
          <a:xfrm>
            <a:off x="3218688" y="146304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218688" y="146304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55264" y="1488440"/>
            <a:ext cx="457200" cy="457200"/>
          </a:xfrm>
          <a:prstGeom prst="rect">
            <a:avLst/>
          </a:prstGeom>
          <a:noFill/>
        </p:spPr>
        <p:txBody>
          <a:bodyPr wrap="square">
            <a:spAutoFit/>
          </a:bodyPr>
          <a:lstStyle/>
          <a:p>
            <a:pPr algn="ctr"/>
            <a:r>
              <a:rPr sz="1600" b="1" i="0">
                <a:solidFill>
                  <a:srgbClr val="C9A02A"/>
                </a:solidFill>
                <a:latin typeface="Times New Roman"/>
              </a:rPr>
              <a:t>2</a:t>
            </a:r>
          </a:p>
        </p:txBody>
      </p:sp>
      <p:sp>
        <p:nvSpPr>
          <p:cNvPr id="16" name="TextBox 15"/>
          <p:cNvSpPr txBox="1"/>
          <p:nvPr/>
        </p:nvSpPr>
        <p:spPr>
          <a:xfrm>
            <a:off x="3291840" y="2029968"/>
            <a:ext cx="2688336" cy="457200"/>
          </a:xfrm>
          <a:prstGeom prst="rect">
            <a:avLst/>
          </a:prstGeom>
          <a:noFill/>
        </p:spPr>
        <p:txBody>
          <a:bodyPr wrap="square">
            <a:spAutoFit/>
          </a:bodyPr>
          <a:lstStyle/>
          <a:p>
            <a:pPr algn="l"/>
            <a:r>
              <a:rPr sz="1300" b="1" i="0">
                <a:solidFill>
                  <a:srgbClr val="1A2E4A"/>
                </a:solidFill>
                <a:latin typeface="Times New Roman"/>
              </a:rPr>
              <a:t>Missing Value Treatment</a:t>
            </a:r>
          </a:p>
        </p:txBody>
      </p:sp>
      <p:sp>
        <p:nvSpPr>
          <p:cNvPr id="17" name="Rectangle 16"/>
          <p:cNvSpPr/>
          <p:nvPr/>
        </p:nvSpPr>
        <p:spPr>
          <a:xfrm>
            <a:off x="3291840" y="248716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10128" y="2578608"/>
            <a:ext cx="2651760" cy="914400"/>
          </a:xfrm>
          <a:prstGeom prst="rect">
            <a:avLst/>
          </a:prstGeom>
          <a:noFill/>
        </p:spPr>
        <p:txBody>
          <a:bodyPr wrap="square">
            <a:spAutoFit/>
          </a:bodyPr>
          <a:lstStyle/>
          <a:p>
            <a:pPr algn="l"/>
            <a:r>
              <a:rPr sz="1150" b="0" i="0">
                <a:solidFill>
                  <a:srgbClr val="1A2E4A"/>
                </a:solidFill>
                <a:latin typeface="Times New Roman"/>
              </a:rPr>
              <a:t>Retained "unknown" as a category — it carries predictive signal</a:t>
            </a:r>
          </a:p>
        </p:txBody>
      </p:sp>
      <p:sp>
        <p:nvSpPr>
          <p:cNvPr id="19" name="Rectangle 18"/>
          <p:cNvSpPr/>
          <p:nvPr/>
        </p:nvSpPr>
        <p:spPr>
          <a:xfrm>
            <a:off x="6208776" y="146304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08776" y="146304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45352" y="1488440"/>
            <a:ext cx="457200" cy="457200"/>
          </a:xfrm>
          <a:prstGeom prst="rect">
            <a:avLst/>
          </a:prstGeom>
          <a:noFill/>
        </p:spPr>
        <p:txBody>
          <a:bodyPr wrap="square">
            <a:spAutoFit/>
          </a:bodyPr>
          <a:lstStyle/>
          <a:p>
            <a:pPr algn="ctr"/>
            <a:r>
              <a:rPr sz="1600" b="1" i="0">
                <a:solidFill>
                  <a:srgbClr val="C9A02A"/>
                </a:solidFill>
                <a:latin typeface="Times New Roman"/>
              </a:rPr>
              <a:t>3</a:t>
            </a:r>
          </a:p>
        </p:txBody>
      </p:sp>
      <p:sp>
        <p:nvSpPr>
          <p:cNvPr id="22" name="TextBox 21"/>
          <p:cNvSpPr txBox="1"/>
          <p:nvPr/>
        </p:nvSpPr>
        <p:spPr>
          <a:xfrm>
            <a:off x="6281928" y="2029968"/>
            <a:ext cx="2688336" cy="457200"/>
          </a:xfrm>
          <a:prstGeom prst="rect">
            <a:avLst/>
          </a:prstGeom>
          <a:noFill/>
        </p:spPr>
        <p:txBody>
          <a:bodyPr wrap="square">
            <a:spAutoFit/>
          </a:bodyPr>
          <a:lstStyle/>
          <a:p>
            <a:pPr algn="l"/>
            <a:r>
              <a:rPr sz="1300" b="1" i="0">
                <a:solidFill>
                  <a:srgbClr val="1A2E4A"/>
                </a:solidFill>
                <a:latin typeface="Times New Roman"/>
              </a:rPr>
              <a:t>Encoding</a:t>
            </a:r>
          </a:p>
        </p:txBody>
      </p:sp>
      <p:sp>
        <p:nvSpPr>
          <p:cNvPr id="23" name="Rectangle 22"/>
          <p:cNvSpPr/>
          <p:nvPr/>
        </p:nvSpPr>
        <p:spPr>
          <a:xfrm>
            <a:off x="6281928" y="248716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0216" y="2578608"/>
            <a:ext cx="2651760" cy="914400"/>
          </a:xfrm>
          <a:prstGeom prst="rect">
            <a:avLst/>
          </a:prstGeom>
          <a:noFill/>
        </p:spPr>
        <p:txBody>
          <a:bodyPr wrap="square">
            <a:spAutoFit/>
          </a:bodyPr>
          <a:lstStyle/>
          <a:p>
            <a:pPr algn="l"/>
            <a:r>
              <a:rPr sz="1150" b="0" i="0">
                <a:solidFill>
                  <a:srgbClr val="1A2E4A"/>
                </a:solidFill>
                <a:latin typeface="Times New Roman"/>
              </a:rPr>
              <a:t>Ordinal for ordered fields; one-hot for nominal; label for target</a:t>
            </a:r>
          </a:p>
        </p:txBody>
      </p:sp>
      <p:sp>
        <p:nvSpPr>
          <p:cNvPr id="25" name="Rectangle 24"/>
          <p:cNvSpPr/>
          <p:nvPr/>
        </p:nvSpPr>
        <p:spPr>
          <a:xfrm>
            <a:off x="9198864" y="146304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98864" y="146304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35440" y="1488440"/>
            <a:ext cx="457200" cy="457200"/>
          </a:xfrm>
          <a:prstGeom prst="rect">
            <a:avLst/>
          </a:prstGeom>
          <a:noFill/>
        </p:spPr>
        <p:txBody>
          <a:bodyPr wrap="square">
            <a:spAutoFit/>
          </a:bodyPr>
          <a:lstStyle/>
          <a:p>
            <a:pPr algn="ctr"/>
            <a:r>
              <a:rPr sz="1600" b="1" i="0">
                <a:solidFill>
                  <a:srgbClr val="C9A02A"/>
                </a:solidFill>
                <a:latin typeface="Times New Roman"/>
              </a:rPr>
              <a:t>4</a:t>
            </a:r>
          </a:p>
        </p:txBody>
      </p:sp>
      <p:sp>
        <p:nvSpPr>
          <p:cNvPr id="28" name="TextBox 27"/>
          <p:cNvSpPr txBox="1"/>
          <p:nvPr/>
        </p:nvSpPr>
        <p:spPr>
          <a:xfrm>
            <a:off x="9272016" y="2029968"/>
            <a:ext cx="2688336" cy="457200"/>
          </a:xfrm>
          <a:prstGeom prst="rect">
            <a:avLst/>
          </a:prstGeom>
          <a:noFill/>
        </p:spPr>
        <p:txBody>
          <a:bodyPr wrap="square">
            <a:spAutoFit/>
          </a:bodyPr>
          <a:lstStyle/>
          <a:p>
            <a:pPr algn="l"/>
            <a:r>
              <a:rPr sz="1300" b="1" i="0">
                <a:solidFill>
                  <a:srgbClr val="1A2E4A"/>
                </a:solidFill>
                <a:latin typeface="Times New Roman"/>
              </a:rPr>
              <a:t>Feature Engineering</a:t>
            </a:r>
          </a:p>
        </p:txBody>
      </p:sp>
      <p:sp>
        <p:nvSpPr>
          <p:cNvPr id="29" name="Rectangle 28"/>
          <p:cNvSpPr/>
          <p:nvPr/>
        </p:nvSpPr>
        <p:spPr>
          <a:xfrm>
            <a:off x="9272016" y="248716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90304" y="2578608"/>
            <a:ext cx="2651760" cy="914400"/>
          </a:xfrm>
          <a:prstGeom prst="rect">
            <a:avLst/>
          </a:prstGeom>
          <a:noFill/>
        </p:spPr>
        <p:txBody>
          <a:bodyPr wrap="square">
            <a:spAutoFit/>
          </a:bodyPr>
          <a:lstStyle/>
          <a:p>
            <a:pPr algn="l"/>
            <a:r>
              <a:rPr sz="1150" b="0" i="0">
                <a:solidFill>
                  <a:srgbClr val="1A2E4A"/>
                </a:solidFill>
                <a:latin typeface="Times New Roman"/>
              </a:rPr>
              <a:t>Dropped call duration (leakage); engineered was_contacted_before flag</a:t>
            </a:r>
          </a:p>
        </p:txBody>
      </p:sp>
      <p:sp>
        <p:nvSpPr>
          <p:cNvPr id="31" name="Rectangle 30"/>
          <p:cNvSpPr/>
          <p:nvPr/>
        </p:nvSpPr>
        <p:spPr>
          <a:xfrm>
            <a:off x="228600" y="379476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28600" y="379476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5176" y="3820160"/>
            <a:ext cx="457200" cy="457200"/>
          </a:xfrm>
          <a:prstGeom prst="rect">
            <a:avLst/>
          </a:prstGeom>
          <a:noFill/>
        </p:spPr>
        <p:txBody>
          <a:bodyPr wrap="square">
            <a:spAutoFit/>
          </a:bodyPr>
          <a:lstStyle/>
          <a:p>
            <a:pPr algn="ctr"/>
            <a:r>
              <a:rPr sz="1600" b="1" i="0">
                <a:solidFill>
                  <a:srgbClr val="C9A02A"/>
                </a:solidFill>
                <a:latin typeface="Times New Roman"/>
              </a:rPr>
              <a:t>5</a:t>
            </a:r>
          </a:p>
        </p:txBody>
      </p:sp>
      <p:sp>
        <p:nvSpPr>
          <p:cNvPr id="34" name="TextBox 33"/>
          <p:cNvSpPr txBox="1"/>
          <p:nvPr/>
        </p:nvSpPr>
        <p:spPr>
          <a:xfrm>
            <a:off x="301752" y="4361688"/>
            <a:ext cx="2688336" cy="457200"/>
          </a:xfrm>
          <a:prstGeom prst="rect">
            <a:avLst/>
          </a:prstGeom>
          <a:noFill/>
        </p:spPr>
        <p:txBody>
          <a:bodyPr wrap="square">
            <a:spAutoFit/>
          </a:bodyPr>
          <a:lstStyle/>
          <a:p>
            <a:pPr algn="l"/>
            <a:r>
              <a:rPr sz="1300" b="1" i="0">
                <a:solidFill>
                  <a:srgbClr val="1A2E4A"/>
                </a:solidFill>
                <a:latin typeface="Times New Roman"/>
              </a:rPr>
              <a:t>Scaling</a:t>
            </a:r>
          </a:p>
        </p:txBody>
      </p:sp>
      <p:sp>
        <p:nvSpPr>
          <p:cNvPr id="35" name="Rectangle 34"/>
          <p:cNvSpPr/>
          <p:nvPr/>
        </p:nvSpPr>
        <p:spPr>
          <a:xfrm>
            <a:off x="301752" y="481888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 y="4910328"/>
            <a:ext cx="2651760" cy="914400"/>
          </a:xfrm>
          <a:prstGeom prst="rect">
            <a:avLst/>
          </a:prstGeom>
          <a:noFill/>
        </p:spPr>
        <p:txBody>
          <a:bodyPr wrap="square">
            <a:spAutoFit/>
          </a:bodyPr>
          <a:lstStyle/>
          <a:p>
            <a:pPr algn="l"/>
            <a:r>
              <a:rPr sz="1150" b="0" i="0">
                <a:solidFill>
                  <a:srgbClr val="1A2E4A"/>
                </a:solidFill>
                <a:latin typeface="Times New Roman"/>
              </a:rPr>
              <a:t>StandardScaler on continuous features for Logistic Regression only</a:t>
            </a:r>
          </a:p>
        </p:txBody>
      </p:sp>
      <p:sp>
        <p:nvSpPr>
          <p:cNvPr id="37" name="Rectangle 36"/>
          <p:cNvSpPr/>
          <p:nvPr/>
        </p:nvSpPr>
        <p:spPr>
          <a:xfrm>
            <a:off x="3218688" y="379476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218688" y="379476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55264" y="3820160"/>
            <a:ext cx="457200" cy="457200"/>
          </a:xfrm>
          <a:prstGeom prst="rect">
            <a:avLst/>
          </a:prstGeom>
          <a:noFill/>
        </p:spPr>
        <p:txBody>
          <a:bodyPr wrap="square">
            <a:spAutoFit/>
          </a:bodyPr>
          <a:lstStyle/>
          <a:p>
            <a:pPr algn="ctr"/>
            <a:r>
              <a:rPr sz="1600" b="1" i="0">
                <a:solidFill>
                  <a:srgbClr val="C9A02A"/>
                </a:solidFill>
                <a:latin typeface="Times New Roman"/>
              </a:rPr>
              <a:t>6</a:t>
            </a:r>
          </a:p>
        </p:txBody>
      </p:sp>
      <p:sp>
        <p:nvSpPr>
          <p:cNvPr id="40" name="TextBox 39"/>
          <p:cNvSpPr txBox="1"/>
          <p:nvPr/>
        </p:nvSpPr>
        <p:spPr>
          <a:xfrm>
            <a:off x="3291840" y="4361688"/>
            <a:ext cx="2688336" cy="457200"/>
          </a:xfrm>
          <a:prstGeom prst="rect">
            <a:avLst/>
          </a:prstGeom>
          <a:noFill/>
        </p:spPr>
        <p:txBody>
          <a:bodyPr wrap="square">
            <a:spAutoFit/>
          </a:bodyPr>
          <a:lstStyle/>
          <a:p>
            <a:pPr algn="l"/>
            <a:r>
              <a:rPr sz="1300" b="1" i="0">
                <a:solidFill>
                  <a:srgbClr val="1A2E4A"/>
                </a:solidFill>
                <a:latin typeface="Times New Roman"/>
              </a:rPr>
              <a:t>Exploratory Analysis</a:t>
            </a:r>
          </a:p>
        </p:txBody>
      </p:sp>
      <p:sp>
        <p:nvSpPr>
          <p:cNvPr id="41" name="Rectangle 40"/>
          <p:cNvSpPr/>
          <p:nvPr/>
        </p:nvSpPr>
        <p:spPr>
          <a:xfrm>
            <a:off x="3291840" y="481888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310128" y="4910328"/>
            <a:ext cx="2651760" cy="914400"/>
          </a:xfrm>
          <a:prstGeom prst="rect">
            <a:avLst/>
          </a:prstGeom>
          <a:noFill/>
        </p:spPr>
        <p:txBody>
          <a:bodyPr wrap="square">
            <a:spAutoFit/>
          </a:bodyPr>
          <a:lstStyle/>
          <a:p>
            <a:pPr algn="l"/>
            <a:r>
              <a:rPr sz="1150" b="0" i="0">
                <a:solidFill>
                  <a:srgbClr val="1A2E4A"/>
                </a:solidFill>
                <a:latin typeface="Times New Roman"/>
              </a:rPr>
              <a:t>Revealed month patterns, segment differences, macro correlations</a:t>
            </a:r>
          </a:p>
        </p:txBody>
      </p:sp>
      <p:sp>
        <p:nvSpPr>
          <p:cNvPr id="43" name="Rectangle 42"/>
          <p:cNvSpPr/>
          <p:nvPr/>
        </p:nvSpPr>
        <p:spPr>
          <a:xfrm>
            <a:off x="6208776" y="379476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08776" y="379476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45352" y="3820160"/>
            <a:ext cx="457200" cy="457200"/>
          </a:xfrm>
          <a:prstGeom prst="rect">
            <a:avLst/>
          </a:prstGeom>
          <a:noFill/>
        </p:spPr>
        <p:txBody>
          <a:bodyPr wrap="square">
            <a:spAutoFit/>
          </a:bodyPr>
          <a:lstStyle/>
          <a:p>
            <a:pPr algn="ctr"/>
            <a:r>
              <a:rPr sz="1600" b="1" i="0">
                <a:solidFill>
                  <a:srgbClr val="C9A02A"/>
                </a:solidFill>
                <a:latin typeface="Times New Roman"/>
              </a:rPr>
              <a:t>7</a:t>
            </a:r>
          </a:p>
        </p:txBody>
      </p:sp>
      <p:sp>
        <p:nvSpPr>
          <p:cNvPr id="46" name="TextBox 45"/>
          <p:cNvSpPr txBox="1"/>
          <p:nvPr/>
        </p:nvSpPr>
        <p:spPr>
          <a:xfrm>
            <a:off x="6281928" y="4361688"/>
            <a:ext cx="2688336" cy="457200"/>
          </a:xfrm>
          <a:prstGeom prst="rect">
            <a:avLst/>
          </a:prstGeom>
          <a:noFill/>
        </p:spPr>
        <p:txBody>
          <a:bodyPr wrap="square">
            <a:spAutoFit/>
          </a:bodyPr>
          <a:lstStyle/>
          <a:p>
            <a:pPr algn="l"/>
            <a:r>
              <a:rPr sz="1300" b="1" i="0">
                <a:solidFill>
                  <a:srgbClr val="1A2E4A"/>
                </a:solidFill>
                <a:latin typeface="Times New Roman"/>
              </a:rPr>
              <a:t>Multicollinearity (VIF)</a:t>
            </a:r>
          </a:p>
        </p:txBody>
      </p:sp>
      <p:sp>
        <p:nvSpPr>
          <p:cNvPr id="47" name="Rectangle 46"/>
          <p:cNvSpPr/>
          <p:nvPr/>
        </p:nvSpPr>
        <p:spPr>
          <a:xfrm>
            <a:off x="6281928" y="481888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00216" y="4910328"/>
            <a:ext cx="2651760" cy="914400"/>
          </a:xfrm>
          <a:prstGeom prst="rect">
            <a:avLst/>
          </a:prstGeom>
          <a:noFill/>
        </p:spPr>
        <p:txBody>
          <a:bodyPr wrap="square">
            <a:spAutoFit/>
          </a:bodyPr>
          <a:lstStyle/>
          <a:p>
            <a:pPr algn="l"/>
            <a:r>
              <a:rPr sz="1150" b="0" i="0">
                <a:solidFill>
                  <a:srgbClr val="1A2E4A"/>
                </a:solidFill>
                <a:latin typeface="Times New Roman"/>
              </a:rPr>
              <a:t>Dropped emp.var.rate and nr.employed; retained euribor3m</a:t>
            </a:r>
          </a:p>
        </p:txBody>
      </p:sp>
      <p:sp>
        <p:nvSpPr>
          <p:cNvPr id="49" name="Rectangle 48"/>
          <p:cNvSpPr/>
          <p:nvPr/>
        </p:nvSpPr>
        <p:spPr>
          <a:xfrm>
            <a:off x="9198864" y="3794760"/>
            <a:ext cx="2834640" cy="214884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9198864" y="3794760"/>
            <a:ext cx="502920" cy="5029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35440" y="3820160"/>
            <a:ext cx="457200" cy="457200"/>
          </a:xfrm>
          <a:prstGeom prst="rect">
            <a:avLst/>
          </a:prstGeom>
          <a:noFill/>
        </p:spPr>
        <p:txBody>
          <a:bodyPr wrap="square">
            <a:spAutoFit/>
          </a:bodyPr>
          <a:lstStyle/>
          <a:p>
            <a:pPr algn="ctr"/>
            <a:r>
              <a:rPr sz="1600" b="1" i="0">
                <a:solidFill>
                  <a:srgbClr val="C9A02A"/>
                </a:solidFill>
                <a:latin typeface="Times New Roman"/>
              </a:rPr>
              <a:t>8</a:t>
            </a:r>
          </a:p>
        </p:txBody>
      </p:sp>
      <p:sp>
        <p:nvSpPr>
          <p:cNvPr id="52" name="TextBox 51"/>
          <p:cNvSpPr txBox="1"/>
          <p:nvPr/>
        </p:nvSpPr>
        <p:spPr>
          <a:xfrm>
            <a:off x="9272016" y="4361688"/>
            <a:ext cx="2688336" cy="457200"/>
          </a:xfrm>
          <a:prstGeom prst="rect">
            <a:avLst/>
          </a:prstGeom>
          <a:noFill/>
        </p:spPr>
        <p:txBody>
          <a:bodyPr wrap="square">
            <a:spAutoFit/>
          </a:bodyPr>
          <a:lstStyle/>
          <a:p>
            <a:pPr algn="l"/>
            <a:r>
              <a:rPr sz="1300" b="1" i="0">
                <a:solidFill>
                  <a:srgbClr val="1A2E4A"/>
                </a:solidFill>
                <a:latin typeface="Times New Roman"/>
              </a:rPr>
              <a:t>Train / Test Split</a:t>
            </a:r>
          </a:p>
        </p:txBody>
      </p:sp>
      <p:sp>
        <p:nvSpPr>
          <p:cNvPr id="53" name="Rectangle 52"/>
          <p:cNvSpPr/>
          <p:nvPr/>
        </p:nvSpPr>
        <p:spPr>
          <a:xfrm>
            <a:off x="9272016" y="4818888"/>
            <a:ext cx="2688336" cy="27432"/>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290304" y="4910328"/>
            <a:ext cx="2651760" cy="914400"/>
          </a:xfrm>
          <a:prstGeom prst="rect">
            <a:avLst/>
          </a:prstGeom>
          <a:noFill/>
        </p:spPr>
        <p:txBody>
          <a:bodyPr wrap="square">
            <a:spAutoFit/>
          </a:bodyPr>
          <a:lstStyle/>
          <a:p>
            <a:pPr algn="l"/>
            <a:r>
              <a:rPr sz="1150" b="0" i="0">
                <a:solidFill>
                  <a:srgbClr val="1A2E4A"/>
                </a:solidFill>
                <a:latin typeface="Times New Roman"/>
              </a:rPr>
              <a:t>80/20 stratified split; scaling fit on train only to prevent leakage</a:t>
            </a:r>
          </a:p>
        </p:txBody>
      </p:sp>
      <p:sp>
        <p:nvSpPr>
          <p:cNvPr id="55" name="TextBox 54"/>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56" name="TextBox 55"/>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3 of 8</a:t>
            </a:r>
          </a:p>
        </p:txBody>
      </p:sp>
      <p:sp>
        <p:nvSpPr>
          <p:cNvPr id="57" name="Rectangle 56"/>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3444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30000" cy="685800"/>
          </a:xfrm>
          <a:prstGeom prst="rect">
            <a:avLst/>
          </a:prstGeom>
          <a:noFill/>
        </p:spPr>
        <p:txBody>
          <a:bodyPr wrap="square">
            <a:spAutoFit/>
          </a:bodyPr>
          <a:lstStyle/>
          <a:p>
            <a:pPr algn="l"/>
            <a:r>
              <a:rPr sz="3000" b="1" i="0">
                <a:solidFill>
                  <a:srgbClr val="FFFFFF"/>
                </a:solidFill>
                <a:latin typeface="Times New Roman"/>
              </a:rPr>
              <a:t>The Four Models</a:t>
            </a:r>
          </a:p>
        </p:txBody>
      </p:sp>
      <p:sp>
        <p:nvSpPr>
          <p:cNvPr id="6" name="TextBox 5"/>
          <p:cNvSpPr txBox="1"/>
          <p:nvPr/>
        </p:nvSpPr>
        <p:spPr>
          <a:xfrm>
            <a:off x="365760" y="804672"/>
            <a:ext cx="11430000" cy="365760"/>
          </a:xfrm>
          <a:prstGeom prst="rect">
            <a:avLst/>
          </a:prstGeom>
          <a:noFill/>
        </p:spPr>
        <p:txBody>
          <a:bodyPr wrap="square">
            <a:spAutoFit/>
          </a:bodyPr>
          <a:lstStyle/>
          <a:p>
            <a:pPr algn="l"/>
            <a:r>
              <a:rPr sz="1600" b="0" i="1">
                <a:solidFill>
                  <a:srgbClr val="C9A02A"/>
                </a:solidFill>
                <a:latin typeface="Times New Roman"/>
              </a:rPr>
              <a:t>Increasing complexity — from transparent to powerful</a:t>
            </a:r>
          </a:p>
        </p:txBody>
      </p:sp>
      <p:sp>
        <p:nvSpPr>
          <p:cNvPr id="7" name="Rectangle 6"/>
          <p:cNvSpPr/>
          <p:nvPr/>
        </p:nvSpPr>
        <p:spPr>
          <a:xfrm>
            <a:off x="274320" y="1463040"/>
            <a:ext cx="11612880" cy="1188720"/>
          </a:xfrm>
          <a:prstGeom prst="rect">
            <a:avLst/>
          </a:prstGeom>
          <a:solidFill>
            <a:srgbClr val="FFFFFF"/>
          </a:solidFill>
          <a:ln w="1016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463040"/>
            <a:ext cx="685800" cy="1188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783080"/>
            <a:ext cx="685800" cy="548640"/>
          </a:xfrm>
          <a:prstGeom prst="rect">
            <a:avLst/>
          </a:prstGeom>
          <a:noFill/>
        </p:spPr>
        <p:txBody>
          <a:bodyPr wrap="square">
            <a:spAutoFit/>
          </a:bodyPr>
          <a:lstStyle/>
          <a:p>
            <a:pPr algn="ctr"/>
            <a:r>
              <a:rPr sz="1800" b="1" i="0">
                <a:solidFill>
                  <a:srgbClr val="C9A02A"/>
                </a:solidFill>
                <a:latin typeface="Times New Roman"/>
              </a:rPr>
              <a:t>01</a:t>
            </a:r>
          </a:p>
        </p:txBody>
      </p:sp>
      <p:sp>
        <p:nvSpPr>
          <p:cNvPr id="10" name="TextBox 9"/>
          <p:cNvSpPr txBox="1"/>
          <p:nvPr/>
        </p:nvSpPr>
        <p:spPr>
          <a:xfrm>
            <a:off x="1051560" y="1536192"/>
            <a:ext cx="3200400" cy="457200"/>
          </a:xfrm>
          <a:prstGeom prst="rect">
            <a:avLst/>
          </a:prstGeom>
          <a:noFill/>
        </p:spPr>
        <p:txBody>
          <a:bodyPr wrap="square">
            <a:spAutoFit/>
          </a:bodyPr>
          <a:lstStyle/>
          <a:p>
            <a:pPr algn="l"/>
            <a:r>
              <a:rPr sz="1600" b="1" i="0">
                <a:solidFill>
                  <a:srgbClr val="1A2E4A"/>
                </a:solidFill>
                <a:latin typeface="Times New Roman"/>
              </a:rPr>
              <a:t>Logistic Regression</a:t>
            </a:r>
          </a:p>
        </p:txBody>
      </p:sp>
      <p:sp>
        <p:nvSpPr>
          <p:cNvPr id="11" name="TextBox 10"/>
          <p:cNvSpPr txBox="1"/>
          <p:nvPr/>
        </p:nvSpPr>
        <p:spPr>
          <a:xfrm>
            <a:off x="1051560" y="1965960"/>
            <a:ext cx="6858000" cy="658368"/>
          </a:xfrm>
          <a:prstGeom prst="rect">
            <a:avLst/>
          </a:prstGeom>
          <a:noFill/>
        </p:spPr>
        <p:txBody>
          <a:bodyPr wrap="square">
            <a:spAutoFit/>
          </a:bodyPr>
          <a:lstStyle/>
          <a:p>
            <a:pPr algn="l"/>
            <a:r>
              <a:rPr sz="1200" b="0" i="0">
                <a:solidFill>
                  <a:srgbClr val="1A2E4A"/>
                </a:solidFill>
                <a:latin typeface="Times New Roman"/>
              </a:rPr>
              <a:t>Linear baseline. Assigns each feature an influence score (odds ratio).
Clearest model for explaining decisions to stakeholders.</a:t>
            </a:r>
          </a:p>
        </p:txBody>
      </p:sp>
      <p:sp>
        <p:nvSpPr>
          <p:cNvPr id="12" name="Rectangle 11"/>
          <p:cNvSpPr/>
          <p:nvPr/>
        </p:nvSpPr>
        <p:spPr>
          <a:xfrm>
            <a:off x="8229600" y="1691640"/>
            <a:ext cx="3474720" cy="685800"/>
          </a:xfrm>
          <a:prstGeom prst="rect">
            <a:avLst/>
          </a:prstGeom>
          <a:solidFill>
            <a:srgbClr val="F4F6F9"/>
          </a:solidFill>
          <a:ln w="1270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0" y="1709928"/>
            <a:ext cx="3291840" cy="274320"/>
          </a:xfrm>
          <a:prstGeom prst="rect">
            <a:avLst/>
          </a:prstGeom>
          <a:noFill/>
        </p:spPr>
        <p:txBody>
          <a:bodyPr wrap="square">
            <a:spAutoFit/>
          </a:bodyPr>
          <a:lstStyle/>
          <a:p>
            <a:pPr algn="l"/>
            <a:r>
              <a:rPr sz="1000" b="1" i="0">
                <a:solidFill>
                  <a:srgbClr val="1A7A7A"/>
                </a:solidFill>
                <a:latin typeface="Times New Roman"/>
              </a:rPr>
              <a:t>Imbalance handling:</a:t>
            </a:r>
          </a:p>
        </p:txBody>
      </p:sp>
      <p:sp>
        <p:nvSpPr>
          <p:cNvPr id="14" name="TextBox 13"/>
          <p:cNvSpPr txBox="1"/>
          <p:nvPr/>
        </p:nvSpPr>
        <p:spPr>
          <a:xfrm>
            <a:off x="8321040" y="1938528"/>
            <a:ext cx="3291840" cy="365760"/>
          </a:xfrm>
          <a:prstGeom prst="rect">
            <a:avLst/>
          </a:prstGeom>
          <a:noFill/>
        </p:spPr>
        <p:txBody>
          <a:bodyPr wrap="square">
            <a:spAutoFit/>
          </a:bodyPr>
          <a:lstStyle/>
          <a:p>
            <a:pPr algn="l"/>
            <a:r>
              <a:rPr sz="1100" b="0" i="1">
                <a:solidFill>
                  <a:srgbClr val="1A2E4A"/>
                </a:solidFill>
                <a:latin typeface="Times New Roman"/>
              </a:rPr>
              <a:t>class_weight="balanced"</a:t>
            </a:r>
          </a:p>
        </p:txBody>
      </p:sp>
      <p:sp>
        <p:nvSpPr>
          <p:cNvPr id="15" name="Rectangle 14"/>
          <p:cNvSpPr/>
          <p:nvPr/>
        </p:nvSpPr>
        <p:spPr>
          <a:xfrm>
            <a:off x="274320" y="2761488"/>
            <a:ext cx="11612880" cy="1188720"/>
          </a:xfrm>
          <a:prstGeom prst="rect">
            <a:avLst/>
          </a:prstGeom>
          <a:solidFill>
            <a:srgbClr val="FFFFFF"/>
          </a:solidFill>
          <a:ln w="1016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2761488"/>
            <a:ext cx="685800" cy="1188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3081528"/>
            <a:ext cx="685800" cy="548640"/>
          </a:xfrm>
          <a:prstGeom prst="rect">
            <a:avLst/>
          </a:prstGeom>
          <a:noFill/>
        </p:spPr>
        <p:txBody>
          <a:bodyPr wrap="square">
            <a:spAutoFit/>
          </a:bodyPr>
          <a:lstStyle/>
          <a:p>
            <a:pPr algn="ctr"/>
            <a:r>
              <a:rPr sz="1800" b="1" i="0">
                <a:solidFill>
                  <a:srgbClr val="C9A02A"/>
                </a:solidFill>
                <a:latin typeface="Times New Roman"/>
              </a:rPr>
              <a:t>02</a:t>
            </a:r>
          </a:p>
        </p:txBody>
      </p:sp>
      <p:sp>
        <p:nvSpPr>
          <p:cNvPr id="18" name="TextBox 17"/>
          <p:cNvSpPr txBox="1"/>
          <p:nvPr/>
        </p:nvSpPr>
        <p:spPr>
          <a:xfrm>
            <a:off x="1051560" y="2834640"/>
            <a:ext cx="3200400" cy="457200"/>
          </a:xfrm>
          <a:prstGeom prst="rect">
            <a:avLst/>
          </a:prstGeom>
          <a:noFill/>
        </p:spPr>
        <p:txBody>
          <a:bodyPr wrap="square">
            <a:spAutoFit/>
          </a:bodyPr>
          <a:lstStyle/>
          <a:p>
            <a:pPr algn="l"/>
            <a:r>
              <a:rPr sz="1600" b="1" i="0">
                <a:solidFill>
                  <a:srgbClr val="1A2E4A"/>
                </a:solidFill>
                <a:latin typeface="Times New Roman"/>
              </a:rPr>
              <a:t>Decision Tree</a:t>
            </a:r>
          </a:p>
        </p:txBody>
      </p:sp>
      <p:sp>
        <p:nvSpPr>
          <p:cNvPr id="19" name="TextBox 18"/>
          <p:cNvSpPr txBox="1"/>
          <p:nvPr/>
        </p:nvSpPr>
        <p:spPr>
          <a:xfrm>
            <a:off x="1051560" y="3264408"/>
            <a:ext cx="6858000" cy="658368"/>
          </a:xfrm>
          <a:prstGeom prst="rect">
            <a:avLst/>
          </a:prstGeom>
          <a:noFill/>
        </p:spPr>
        <p:txBody>
          <a:bodyPr wrap="square">
            <a:spAutoFit/>
          </a:bodyPr>
          <a:lstStyle/>
          <a:p>
            <a:pPr algn="l"/>
            <a:r>
              <a:rPr sz="1200" b="0" i="0">
                <a:solidFill>
                  <a:srgbClr val="1A2E4A"/>
                </a:solidFill>
                <a:latin typeface="Times New Roman"/>
              </a:rPr>
              <a:t>A flow-chart of yes/no questions.
Easy to visualise and interpret. Depth limited to prevent overfitting.</a:t>
            </a:r>
          </a:p>
        </p:txBody>
      </p:sp>
      <p:sp>
        <p:nvSpPr>
          <p:cNvPr id="20" name="Rectangle 19"/>
          <p:cNvSpPr/>
          <p:nvPr/>
        </p:nvSpPr>
        <p:spPr>
          <a:xfrm>
            <a:off x="8229600" y="2990088"/>
            <a:ext cx="3474720" cy="685800"/>
          </a:xfrm>
          <a:prstGeom prst="rect">
            <a:avLst/>
          </a:prstGeom>
          <a:solidFill>
            <a:srgbClr val="F4F6F9"/>
          </a:solidFill>
          <a:ln w="1270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3008376"/>
            <a:ext cx="3291840" cy="274320"/>
          </a:xfrm>
          <a:prstGeom prst="rect">
            <a:avLst/>
          </a:prstGeom>
          <a:noFill/>
        </p:spPr>
        <p:txBody>
          <a:bodyPr wrap="square">
            <a:spAutoFit/>
          </a:bodyPr>
          <a:lstStyle/>
          <a:p>
            <a:pPr algn="l"/>
            <a:r>
              <a:rPr sz="1000" b="1" i="0">
                <a:solidFill>
                  <a:srgbClr val="1A7A7A"/>
                </a:solidFill>
                <a:latin typeface="Times New Roman"/>
              </a:rPr>
              <a:t>Imbalance handling:</a:t>
            </a:r>
          </a:p>
        </p:txBody>
      </p:sp>
      <p:sp>
        <p:nvSpPr>
          <p:cNvPr id="22" name="TextBox 21"/>
          <p:cNvSpPr txBox="1"/>
          <p:nvPr/>
        </p:nvSpPr>
        <p:spPr>
          <a:xfrm>
            <a:off x="8321040" y="3236976"/>
            <a:ext cx="3291840" cy="365760"/>
          </a:xfrm>
          <a:prstGeom prst="rect">
            <a:avLst/>
          </a:prstGeom>
          <a:noFill/>
        </p:spPr>
        <p:txBody>
          <a:bodyPr wrap="square">
            <a:spAutoFit/>
          </a:bodyPr>
          <a:lstStyle/>
          <a:p>
            <a:pPr algn="l"/>
            <a:r>
              <a:rPr sz="1100" b="0" i="1">
                <a:solidFill>
                  <a:srgbClr val="1A2E4A"/>
                </a:solidFill>
                <a:latin typeface="Times New Roman"/>
              </a:rPr>
              <a:t>class_weight="balanced"</a:t>
            </a:r>
          </a:p>
        </p:txBody>
      </p:sp>
      <p:sp>
        <p:nvSpPr>
          <p:cNvPr id="23" name="Rectangle 22"/>
          <p:cNvSpPr/>
          <p:nvPr/>
        </p:nvSpPr>
        <p:spPr>
          <a:xfrm>
            <a:off x="274320" y="4059936"/>
            <a:ext cx="11612880" cy="1188720"/>
          </a:xfrm>
          <a:prstGeom prst="rect">
            <a:avLst/>
          </a:prstGeom>
          <a:solidFill>
            <a:srgbClr val="FFFFFF"/>
          </a:solidFill>
          <a:ln w="1016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4059936"/>
            <a:ext cx="685800" cy="1188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4379976"/>
            <a:ext cx="685800" cy="548640"/>
          </a:xfrm>
          <a:prstGeom prst="rect">
            <a:avLst/>
          </a:prstGeom>
          <a:noFill/>
        </p:spPr>
        <p:txBody>
          <a:bodyPr wrap="square">
            <a:spAutoFit/>
          </a:bodyPr>
          <a:lstStyle/>
          <a:p>
            <a:pPr algn="ctr"/>
            <a:r>
              <a:rPr sz="1800" b="1" i="0">
                <a:solidFill>
                  <a:srgbClr val="C9A02A"/>
                </a:solidFill>
                <a:latin typeface="Times New Roman"/>
              </a:rPr>
              <a:t>03</a:t>
            </a:r>
          </a:p>
        </p:txBody>
      </p:sp>
      <p:sp>
        <p:nvSpPr>
          <p:cNvPr id="26" name="TextBox 25"/>
          <p:cNvSpPr txBox="1"/>
          <p:nvPr/>
        </p:nvSpPr>
        <p:spPr>
          <a:xfrm>
            <a:off x="1051560" y="4133088"/>
            <a:ext cx="3200400" cy="457200"/>
          </a:xfrm>
          <a:prstGeom prst="rect">
            <a:avLst/>
          </a:prstGeom>
          <a:noFill/>
        </p:spPr>
        <p:txBody>
          <a:bodyPr wrap="square">
            <a:spAutoFit/>
          </a:bodyPr>
          <a:lstStyle/>
          <a:p>
            <a:pPr algn="l"/>
            <a:r>
              <a:rPr sz="1600" b="1" i="0">
                <a:solidFill>
                  <a:srgbClr val="1A2E4A"/>
                </a:solidFill>
                <a:latin typeface="Times New Roman"/>
              </a:rPr>
              <a:t>Random Forest</a:t>
            </a:r>
          </a:p>
        </p:txBody>
      </p:sp>
      <p:sp>
        <p:nvSpPr>
          <p:cNvPr id="27" name="TextBox 26"/>
          <p:cNvSpPr txBox="1"/>
          <p:nvPr/>
        </p:nvSpPr>
        <p:spPr>
          <a:xfrm>
            <a:off x="1051560" y="4562856"/>
            <a:ext cx="6858000" cy="658368"/>
          </a:xfrm>
          <a:prstGeom prst="rect">
            <a:avLst/>
          </a:prstGeom>
          <a:noFill/>
        </p:spPr>
        <p:txBody>
          <a:bodyPr wrap="square">
            <a:spAutoFit/>
          </a:bodyPr>
          <a:lstStyle/>
          <a:p>
            <a:pPr algn="l"/>
            <a:r>
              <a:rPr sz="1200" b="0" i="0">
                <a:solidFill>
                  <a:srgbClr val="1A2E4A"/>
                </a:solidFill>
                <a:latin typeface="Times New Roman"/>
              </a:rPr>
              <a:t>300 decision trees, each on a random data sample.
Majority vote reduces error and overfitting.</a:t>
            </a:r>
          </a:p>
        </p:txBody>
      </p:sp>
      <p:sp>
        <p:nvSpPr>
          <p:cNvPr id="28" name="Rectangle 27"/>
          <p:cNvSpPr/>
          <p:nvPr/>
        </p:nvSpPr>
        <p:spPr>
          <a:xfrm>
            <a:off x="8229600" y="4288536"/>
            <a:ext cx="3474720" cy="685800"/>
          </a:xfrm>
          <a:prstGeom prst="rect">
            <a:avLst/>
          </a:prstGeom>
          <a:solidFill>
            <a:srgbClr val="F4F6F9"/>
          </a:solidFill>
          <a:ln w="1270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0" y="4306824"/>
            <a:ext cx="3291840" cy="274320"/>
          </a:xfrm>
          <a:prstGeom prst="rect">
            <a:avLst/>
          </a:prstGeom>
          <a:noFill/>
        </p:spPr>
        <p:txBody>
          <a:bodyPr wrap="square">
            <a:spAutoFit/>
          </a:bodyPr>
          <a:lstStyle/>
          <a:p>
            <a:pPr algn="l"/>
            <a:r>
              <a:rPr sz="1000" b="1" i="0">
                <a:solidFill>
                  <a:srgbClr val="1A7A7A"/>
                </a:solidFill>
                <a:latin typeface="Times New Roman"/>
              </a:rPr>
              <a:t>Imbalance handling:</a:t>
            </a:r>
          </a:p>
        </p:txBody>
      </p:sp>
      <p:sp>
        <p:nvSpPr>
          <p:cNvPr id="30" name="TextBox 29"/>
          <p:cNvSpPr txBox="1"/>
          <p:nvPr/>
        </p:nvSpPr>
        <p:spPr>
          <a:xfrm>
            <a:off x="8321040" y="4535424"/>
            <a:ext cx="3291840" cy="365760"/>
          </a:xfrm>
          <a:prstGeom prst="rect">
            <a:avLst/>
          </a:prstGeom>
          <a:noFill/>
        </p:spPr>
        <p:txBody>
          <a:bodyPr wrap="square">
            <a:spAutoFit/>
          </a:bodyPr>
          <a:lstStyle/>
          <a:p>
            <a:pPr algn="l"/>
            <a:r>
              <a:rPr sz="1100" b="0" i="1">
                <a:solidFill>
                  <a:srgbClr val="1A2E4A"/>
                </a:solidFill>
                <a:latin typeface="Times New Roman"/>
              </a:rPr>
              <a:t>class_weight="balanced"</a:t>
            </a:r>
          </a:p>
        </p:txBody>
      </p:sp>
      <p:sp>
        <p:nvSpPr>
          <p:cNvPr id="31" name="Rectangle 30"/>
          <p:cNvSpPr/>
          <p:nvPr/>
        </p:nvSpPr>
        <p:spPr>
          <a:xfrm>
            <a:off x="274320" y="5358384"/>
            <a:ext cx="11612880" cy="1188720"/>
          </a:xfrm>
          <a:prstGeom prst="rect">
            <a:avLst/>
          </a:prstGeom>
          <a:solidFill>
            <a:srgbClr val="FFFFFF"/>
          </a:solidFill>
          <a:ln w="1016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5358384"/>
            <a:ext cx="685800" cy="1188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5678424"/>
            <a:ext cx="685800" cy="548640"/>
          </a:xfrm>
          <a:prstGeom prst="rect">
            <a:avLst/>
          </a:prstGeom>
          <a:noFill/>
        </p:spPr>
        <p:txBody>
          <a:bodyPr wrap="square">
            <a:spAutoFit/>
          </a:bodyPr>
          <a:lstStyle/>
          <a:p>
            <a:pPr algn="ctr"/>
            <a:r>
              <a:rPr sz="1800" b="1" i="0">
                <a:solidFill>
                  <a:srgbClr val="C9A02A"/>
                </a:solidFill>
                <a:latin typeface="Times New Roman"/>
              </a:rPr>
              <a:t>04</a:t>
            </a:r>
          </a:p>
        </p:txBody>
      </p:sp>
      <p:sp>
        <p:nvSpPr>
          <p:cNvPr id="34" name="TextBox 33"/>
          <p:cNvSpPr txBox="1"/>
          <p:nvPr/>
        </p:nvSpPr>
        <p:spPr>
          <a:xfrm>
            <a:off x="1051560" y="5431536"/>
            <a:ext cx="3200400" cy="457200"/>
          </a:xfrm>
          <a:prstGeom prst="rect">
            <a:avLst/>
          </a:prstGeom>
          <a:noFill/>
        </p:spPr>
        <p:txBody>
          <a:bodyPr wrap="square">
            <a:spAutoFit/>
          </a:bodyPr>
          <a:lstStyle/>
          <a:p>
            <a:pPr algn="l"/>
            <a:r>
              <a:rPr sz="1600" b="1" i="0">
                <a:solidFill>
                  <a:srgbClr val="1A2E4A"/>
                </a:solidFill>
                <a:latin typeface="Times New Roman"/>
              </a:rPr>
              <a:t>Gradient Boosting</a:t>
            </a:r>
          </a:p>
        </p:txBody>
      </p:sp>
      <p:sp>
        <p:nvSpPr>
          <p:cNvPr id="35" name="TextBox 34"/>
          <p:cNvSpPr txBox="1"/>
          <p:nvPr/>
        </p:nvSpPr>
        <p:spPr>
          <a:xfrm>
            <a:off x="1051560" y="5861304"/>
            <a:ext cx="6858000" cy="658368"/>
          </a:xfrm>
          <a:prstGeom prst="rect">
            <a:avLst/>
          </a:prstGeom>
          <a:noFill/>
        </p:spPr>
        <p:txBody>
          <a:bodyPr wrap="square">
            <a:spAutoFit/>
          </a:bodyPr>
          <a:lstStyle/>
          <a:p>
            <a:pPr algn="l"/>
            <a:r>
              <a:rPr sz="1200" b="0" i="0">
                <a:solidFill>
                  <a:srgbClr val="1A2E4A"/>
                </a:solidFill>
                <a:latin typeface="Times New Roman"/>
              </a:rPr>
              <a:t>Trees built sequentially — each corrects the last.
Typically the strongest performer on ranking metrics.</a:t>
            </a:r>
          </a:p>
        </p:txBody>
      </p:sp>
      <p:sp>
        <p:nvSpPr>
          <p:cNvPr id="36" name="Rectangle 35"/>
          <p:cNvSpPr/>
          <p:nvPr/>
        </p:nvSpPr>
        <p:spPr>
          <a:xfrm>
            <a:off x="8229600" y="5586984"/>
            <a:ext cx="3474720" cy="685800"/>
          </a:xfrm>
          <a:prstGeom prst="rect">
            <a:avLst/>
          </a:prstGeom>
          <a:solidFill>
            <a:srgbClr val="F4F6F9"/>
          </a:solidFill>
          <a:ln w="1270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21040" y="5605272"/>
            <a:ext cx="3291840" cy="274320"/>
          </a:xfrm>
          <a:prstGeom prst="rect">
            <a:avLst/>
          </a:prstGeom>
          <a:noFill/>
        </p:spPr>
        <p:txBody>
          <a:bodyPr wrap="square">
            <a:spAutoFit/>
          </a:bodyPr>
          <a:lstStyle/>
          <a:p>
            <a:pPr algn="l"/>
            <a:r>
              <a:rPr sz="1000" b="1" i="0">
                <a:solidFill>
                  <a:srgbClr val="1A7A7A"/>
                </a:solidFill>
                <a:latin typeface="Times New Roman"/>
              </a:rPr>
              <a:t>Imbalance handling:</a:t>
            </a:r>
          </a:p>
        </p:txBody>
      </p:sp>
      <p:sp>
        <p:nvSpPr>
          <p:cNvPr id="38" name="TextBox 37"/>
          <p:cNvSpPr txBox="1"/>
          <p:nvPr/>
        </p:nvSpPr>
        <p:spPr>
          <a:xfrm>
            <a:off x="8321040" y="5833872"/>
            <a:ext cx="3291840" cy="365760"/>
          </a:xfrm>
          <a:prstGeom prst="rect">
            <a:avLst/>
          </a:prstGeom>
          <a:noFill/>
        </p:spPr>
        <p:txBody>
          <a:bodyPr wrap="square">
            <a:spAutoFit/>
          </a:bodyPr>
          <a:lstStyle/>
          <a:p>
            <a:pPr algn="l"/>
            <a:r>
              <a:rPr sz="1100" b="0" i="1">
                <a:solidFill>
                  <a:srgbClr val="1A2E4A"/>
                </a:solidFill>
                <a:latin typeface="Times New Roman"/>
              </a:rPr>
              <a:t>compute_sample_weight("balanced")</a:t>
            </a:r>
          </a:p>
        </p:txBody>
      </p:sp>
      <p:sp>
        <p:nvSpPr>
          <p:cNvPr id="39" name="TextBox 38"/>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40" name="TextBox 39"/>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4 of 8</a:t>
            </a:r>
          </a:p>
        </p:txBody>
      </p:sp>
      <p:sp>
        <p:nvSpPr>
          <p:cNvPr id="41" name="Rectangle 40"/>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3444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30000" cy="685800"/>
          </a:xfrm>
          <a:prstGeom prst="rect">
            <a:avLst/>
          </a:prstGeom>
          <a:noFill/>
        </p:spPr>
        <p:txBody>
          <a:bodyPr wrap="square">
            <a:spAutoFit/>
          </a:bodyPr>
          <a:lstStyle/>
          <a:p>
            <a:pPr algn="l"/>
            <a:r>
              <a:rPr sz="3000" b="1" i="0">
                <a:solidFill>
                  <a:srgbClr val="FFFFFF"/>
                </a:solidFill>
                <a:latin typeface="Times New Roman"/>
              </a:rPr>
              <a:t>Results and Model Leaderboard</a:t>
            </a:r>
          </a:p>
        </p:txBody>
      </p:sp>
      <p:sp>
        <p:nvSpPr>
          <p:cNvPr id="6" name="TextBox 5"/>
          <p:cNvSpPr txBox="1"/>
          <p:nvPr/>
        </p:nvSpPr>
        <p:spPr>
          <a:xfrm>
            <a:off x="365760" y="804672"/>
            <a:ext cx="11430000" cy="365760"/>
          </a:xfrm>
          <a:prstGeom prst="rect">
            <a:avLst/>
          </a:prstGeom>
          <a:noFill/>
        </p:spPr>
        <p:txBody>
          <a:bodyPr wrap="square">
            <a:spAutoFit/>
          </a:bodyPr>
          <a:lstStyle/>
          <a:p>
            <a:pPr algn="l"/>
            <a:r>
              <a:rPr sz="1600" b="0" i="1">
                <a:solidFill>
                  <a:srgbClr val="C9A02A"/>
                </a:solidFill>
                <a:latin typeface="Times New Roman"/>
              </a:rPr>
              <a:t>Ranked by ROC-AUC — the most reliable metric for imbalanced data</a:t>
            </a:r>
          </a:p>
        </p:txBody>
      </p:sp>
      <p:sp>
        <p:nvSpPr>
          <p:cNvPr id="7" name="Rectangle 6"/>
          <p:cNvSpPr/>
          <p:nvPr/>
        </p:nvSpPr>
        <p:spPr>
          <a:xfrm>
            <a:off x="274320" y="1508760"/>
            <a:ext cx="2926080" cy="56692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610360"/>
            <a:ext cx="2834640" cy="566928"/>
          </a:xfrm>
          <a:prstGeom prst="rect">
            <a:avLst/>
          </a:prstGeom>
          <a:noFill/>
        </p:spPr>
        <p:txBody>
          <a:bodyPr wrap="square">
            <a:spAutoFit/>
          </a:bodyPr>
          <a:lstStyle/>
          <a:p>
            <a:pPr algn="ctr"/>
            <a:r>
              <a:rPr sz="1300" b="1" i="0">
                <a:solidFill>
                  <a:srgbClr val="FFFFFF"/>
                </a:solidFill>
                <a:latin typeface="Times New Roman"/>
              </a:rPr>
              <a:t>Model</a:t>
            </a:r>
          </a:p>
        </p:txBody>
      </p:sp>
      <p:sp>
        <p:nvSpPr>
          <p:cNvPr id="9" name="Rectangle 8"/>
          <p:cNvSpPr/>
          <p:nvPr/>
        </p:nvSpPr>
        <p:spPr>
          <a:xfrm>
            <a:off x="3200400" y="1508760"/>
            <a:ext cx="1371600" cy="56692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46120" y="1610360"/>
            <a:ext cx="1280160" cy="566928"/>
          </a:xfrm>
          <a:prstGeom prst="rect">
            <a:avLst/>
          </a:prstGeom>
          <a:noFill/>
        </p:spPr>
        <p:txBody>
          <a:bodyPr wrap="square">
            <a:spAutoFit/>
          </a:bodyPr>
          <a:lstStyle/>
          <a:p>
            <a:pPr algn="ctr"/>
            <a:r>
              <a:rPr sz="1300" b="1" i="0">
                <a:solidFill>
                  <a:srgbClr val="FFFFFF"/>
                </a:solidFill>
                <a:latin typeface="Times New Roman"/>
              </a:rPr>
              <a:t>Accuracy</a:t>
            </a:r>
          </a:p>
        </p:txBody>
      </p:sp>
      <p:sp>
        <p:nvSpPr>
          <p:cNvPr id="11" name="Rectangle 10"/>
          <p:cNvSpPr/>
          <p:nvPr/>
        </p:nvSpPr>
        <p:spPr>
          <a:xfrm>
            <a:off x="4572000" y="1508760"/>
            <a:ext cx="1371600" cy="56692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610360"/>
            <a:ext cx="1280160" cy="566928"/>
          </a:xfrm>
          <a:prstGeom prst="rect">
            <a:avLst/>
          </a:prstGeom>
          <a:noFill/>
        </p:spPr>
        <p:txBody>
          <a:bodyPr wrap="square">
            <a:spAutoFit/>
          </a:bodyPr>
          <a:lstStyle/>
          <a:p>
            <a:pPr algn="ctr"/>
            <a:r>
              <a:rPr sz="1300" b="1" i="0">
                <a:solidFill>
                  <a:srgbClr val="FFFFFF"/>
                </a:solidFill>
                <a:latin typeface="Times New Roman"/>
              </a:rPr>
              <a:t>Precision</a:t>
            </a:r>
          </a:p>
        </p:txBody>
      </p:sp>
      <p:sp>
        <p:nvSpPr>
          <p:cNvPr id="13" name="Rectangle 12"/>
          <p:cNvSpPr/>
          <p:nvPr/>
        </p:nvSpPr>
        <p:spPr>
          <a:xfrm>
            <a:off x="5943600" y="1508760"/>
            <a:ext cx="1371600" cy="56692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89320" y="1610360"/>
            <a:ext cx="1280160" cy="566928"/>
          </a:xfrm>
          <a:prstGeom prst="rect">
            <a:avLst/>
          </a:prstGeom>
          <a:noFill/>
        </p:spPr>
        <p:txBody>
          <a:bodyPr wrap="square">
            <a:spAutoFit/>
          </a:bodyPr>
          <a:lstStyle/>
          <a:p>
            <a:pPr algn="ctr"/>
            <a:r>
              <a:rPr sz="1300" b="1" i="0">
                <a:solidFill>
                  <a:srgbClr val="FFFFFF"/>
                </a:solidFill>
                <a:latin typeface="Times New Roman"/>
              </a:rPr>
              <a:t>Recall</a:t>
            </a:r>
          </a:p>
        </p:txBody>
      </p:sp>
      <p:sp>
        <p:nvSpPr>
          <p:cNvPr id="15" name="Rectangle 14"/>
          <p:cNvSpPr/>
          <p:nvPr/>
        </p:nvSpPr>
        <p:spPr>
          <a:xfrm>
            <a:off x="7315200" y="1508760"/>
            <a:ext cx="1280160" cy="56692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60920" y="1610360"/>
            <a:ext cx="1188720" cy="566928"/>
          </a:xfrm>
          <a:prstGeom prst="rect">
            <a:avLst/>
          </a:prstGeom>
          <a:noFill/>
        </p:spPr>
        <p:txBody>
          <a:bodyPr wrap="square">
            <a:spAutoFit/>
          </a:bodyPr>
          <a:lstStyle/>
          <a:p>
            <a:pPr algn="ctr"/>
            <a:r>
              <a:rPr sz="1300" b="1" i="0">
                <a:solidFill>
                  <a:srgbClr val="FFFFFF"/>
                </a:solidFill>
                <a:latin typeface="Times New Roman"/>
              </a:rPr>
              <a:t>F1</a:t>
            </a:r>
          </a:p>
        </p:txBody>
      </p:sp>
      <p:sp>
        <p:nvSpPr>
          <p:cNvPr id="17" name="Rectangle 16"/>
          <p:cNvSpPr/>
          <p:nvPr/>
        </p:nvSpPr>
        <p:spPr>
          <a:xfrm>
            <a:off x="8595360" y="1508760"/>
            <a:ext cx="1463040" cy="566928"/>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41080" y="1610360"/>
            <a:ext cx="1371600" cy="566928"/>
          </a:xfrm>
          <a:prstGeom prst="rect">
            <a:avLst/>
          </a:prstGeom>
          <a:noFill/>
        </p:spPr>
        <p:txBody>
          <a:bodyPr wrap="square">
            <a:spAutoFit/>
          </a:bodyPr>
          <a:lstStyle/>
          <a:p>
            <a:pPr algn="ctr"/>
            <a:r>
              <a:rPr sz="1300" b="1" i="0">
                <a:solidFill>
                  <a:srgbClr val="FFFFFF"/>
                </a:solidFill>
                <a:latin typeface="Times New Roman"/>
              </a:rPr>
              <a:t>ROC-AUC</a:t>
            </a:r>
          </a:p>
        </p:txBody>
      </p:sp>
      <p:sp>
        <p:nvSpPr>
          <p:cNvPr id="19" name="Rectangle 18"/>
          <p:cNvSpPr/>
          <p:nvPr/>
        </p:nvSpPr>
        <p:spPr>
          <a:xfrm>
            <a:off x="274320" y="2075688"/>
            <a:ext cx="2926080" cy="566928"/>
          </a:xfrm>
          <a:prstGeom prst="rect">
            <a:avLst/>
          </a:prstGeom>
          <a:solidFill>
            <a:srgbClr val="FFF8E7"/>
          </a:solidFill>
          <a:ln w="1016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 y="2202688"/>
            <a:ext cx="2834640" cy="566928"/>
          </a:xfrm>
          <a:prstGeom prst="rect">
            <a:avLst/>
          </a:prstGeom>
          <a:noFill/>
        </p:spPr>
        <p:txBody>
          <a:bodyPr wrap="square">
            <a:spAutoFit/>
          </a:bodyPr>
          <a:lstStyle/>
          <a:p>
            <a:pPr algn="l"/>
            <a:r>
              <a:rPr sz="1300" b="1" i="0">
                <a:solidFill>
                  <a:srgbClr val="1A2E4A"/>
                </a:solidFill>
                <a:latin typeface="Times New Roman"/>
              </a:rPr>
              <a:t>Gradient Boosting</a:t>
            </a:r>
          </a:p>
        </p:txBody>
      </p:sp>
      <p:sp>
        <p:nvSpPr>
          <p:cNvPr id="21" name="Rectangle 20"/>
          <p:cNvSpPr/>
          <p:nvPr/>
        </p:nvSpPr>
        <p:spPr>
          <a:xfrm>
            <a:off x="3200400" y="2075688"/>
            <a:ext cx="1371600" cy="566928"/>
          </a:xfrm>
          <a:prstGeom prst="rect">
            <a:avLst/>
          </a:prstGeom>
          <a:solidFill>
            <a:srgbClr val="FFF8E7"/>
          </a:solidFill>
          <a:ln w="1016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46120" y="2202688"/>
            <a:ext cx="1280160" cy="566928"/>
          </a:xfrm>
          <a:prstGeom prst="rect">
            <a:avLst/>
          </a:prstGeom>
          <a:noFill/>
        </p:spPr>
        <p:txBody>
          <a:bodyPr wrap="square">
            <a:spAutoFit/>
          </a:bodyPr>
          <a:lstStyle/>
          <a:p>
            <a:pPr algn="ctr"/>
            <a:r>
              <a:rPr sz="1300" b="0" i="0">
                <a:solidFill>
                  <a:srgbClr val="1A2E4A"/>
                </a:solidFill>
                <a:latin typeface="Times New Roman"/>
              </a:rPr>
              <a:t>0.898</a:t>
            </a:r>
          </a:p>
        </p:txBody>
      </p:sp>
      <p:sp>
        <p:nvSpPr>
          <p:cNvPr id="23" name="Rectangle 22"/>
          <p:cNvSpPr/>
          <p:nvPr/>
        </p:nvSpPr>
        <p:spPr>
          <a:xfrm>
            <a:off x="4572000" y="2075688"/>
            <a:ext cx="1371600" cy="566928"/>
          </a:xfrm>
          <a:prstGeom prst="rect">
            <a:avLst/>
          </a:prstGeom>
          <a:solidFill>
            <a:srgbClr val="FFF8E7"/>
          </a:solidFill>
          <a:ln w="1016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2202688"/>
            <a:ext cx="1280160" cy="566928"/>
          </a:xfrm>
          <a:prstGeom prst="rect">
            <a:avLst/>
          </a:prstGeom>
          <a:noFill/>
        </p:spPr>
        <p:txBody>
          <a:bodyPr wrap="square">
            <a:spAutoFit/>
          </a:bodyPr>
          <a:lstStyle/>
          <a:p>
            <a:pPr algn="ctr"/>
            <a:r>
              <a:rPr sz="1300" b="0" i="0">
                <a:solidFill>
                  <a:srgbClr val="1A2E4A"/>
                </a:solidFill>
                <a:latin typeface="Times New Roman"/>
              </a:rPr>
              <a:t>0.614</a:t>
            </a:r>
          </a:p>
        </p:txBody>
      </p:sp>
      <p:sp>
        <p:nvSpPr>
          <p:cNvPr id="25" name="Rectangle 24"/>
          <p:cNvSpPr/>
          <p:nvPr/>
        </p:nvSpPr>
        <p:spPr>
          <a:xfrm>
            <a:off x="5943600" y="2075688"/>
            <a:ext cx="1371600" cy="566928"/>
          </a:xfrm>
          <a:prstGeom prst="rect">
            <a:avLst/>
          </a:prstGeom>
          <a:solidFill>
            <a:srgbClr val="FFF8E7"/>
          </a:solidFill>
          <a:ln w="1016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89320" y="2202688"/>
            <a:ext cx="1280160" cy="566928"/>
          </a:xfrm>
          <a:prstGeom prst="rect">
            <a:avLst/>
          </a:prstGeom>
          <a:noFill/>
        </p:spPr>
        <p:txBody>
          <a:bodyPr wrap="square">
            <a:spAutoFit/>
          </a:bodyPr>
          <a:lstStyle/>
          <a:p>
            <a:pPr algn="ctr"/>
            <a:r>
              <a:rPr sz="1300" b="0" i="0">
                <a:solidFill>
                  <a:srgbClr val="1A2E4A"/>
                </a:solidFill>
                <a:latin typeface="Times New Roman"/>
              </a:rPr>
              <a:t>0.244</a:t>
            </a:r>
          </a:p>
        </p:txBody>
      </p:sp>
      <p:sp>
        <p:nvSpPr>
          <p:cNvPr id="27" name="Rectangle 26"/>
          <p:cNvSpPr/>
          <p:nvPr/>
        </p:nvSpPr>
        <p:spPr>
          <a:xfrm>
            <a:off x="7315200" y="2075688"/>
            <a:ext cx="1280160" cy="566928"/>
          </a:xfrm>
          <a:prstGeom prst="rect">
            <a:avLst/>
          </a:prstGeom>
          <a:solidFill>
            <a:srgbClr val="FFF8E7"/>
          </a:solidFill>
          <a:ln w="1016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60920" y="2202688"/>
            <a:ext cx="1188720" cy="566928"/>
          </a:xfrm>
          <a:prstGeom prst="rect">
            <a:avLst/>
          </a:prstGeom>
          <a:noFill/>
        </p:spPr>
        <p:txBody>
          <a:bodyPr wrap="square">
            <a:spAutoFit/>
          </a:bodyPr>
          <a:lstStyle/>
          <a:p>
            <a:pPr algn="ctr"/>
            <a:r>
              <a:rPr sz="1300" b="0" i="0">
                <a:solidFill>
                  <a:srgbClr val="1A2E4A"/>
                </a:solidFill>
                <a:latin typeface="Times New Roman"/>
              </a:rPr>
              <a:t>0.349</a:t>
            </a:r>
          </a:p>
        </p:txBody>
      </p:sp>
      <p:sp>
        <p:nvSpPr>
          <p:cNvPr id="29" name="Rectangle 28"/>
          <p:cNvSpPr/>
          <p:nvPr/>
        </p:nvSpPr>
        <p:spPr>
          <a:xfrm>
            <a:off x="8595360" y="2075688"/>
            <a:ext cx="1463040" cy="566928"/>
          </a:xfrm>
          <a:prstGeom prst="rect">
            <a:avLst/>
          </a:prstGeom>
          <a:solidFill>
            <a:srgbClr val="FFF8E7"/>
          </a:solidFill>
          <a:ln w="1016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41080" y="2202688"/>
            <a:ext cx="1371600" cy="566928"/>
          </a:xfrm>
          <a:prstGeom prst="rect">
            <a:avLst/>
          </a:prstGeom>
          <a:noFill/>
        </p:spPr>
        <p:txBody>
          <a:bodyPr wrap="square">
            <a:spAutoFit/>
          </a:bodyPr>
          <a:lstStyle/>
          <a:p>
            <a:pPr algn="ctr"/>
            <a:r>
              <a:rPr sz="1300" b="1" i="0">
                <a:solidFill>
                  <a:srgbClr val="1E8B4F"/>
                </a:solidFill>
                <a:latin typeface="Times New Roman"/>
              </a:rPr>
              <a:t>0.813</a:t>
            </a:r>
          </a:p>
        </p:txBody>
      </p:sp>
      <p:sp>
        <p:nvSpPr>
          <p:cNvPr id="31" name="TextBox 30"/>
          <p:cNvSpPr txBox="1"/>
          <p:nvPr/>
        </p:nvSpPr>
        <p:spPr>
          <a:xfrm>
            <a:off x="10104120" y="2253488"/>
            <a:ext cx="822960" cy="566928"/>
          </a:xfrm>
          <a:prstGeom prst="rect">
            <a:avLst/>
          </a:prstGeom>
          <a:noFill/>
        </p:spPr>
        <p:txBody>
          <a:bodyPr wrap="square">
            <a:spAutoFit/>
          </a:bodyPr>
          <a:lstStyle/>
          <a:p>
            <a:pPr algn="l"/>
            <a:r>
              <a:rPr sz="1100" b="1" i="0">
                <a:solidFill>
                  <a:srgbClr val="C9A02A"/>
                </a:solidFill>
                <a:latin typeface="Times New Roman"/>
              </a:rPr>
              <a:t> WINNER</a:t>
            </a:r>
          </a:p>
        </p:txBody>
      </p:sp>
      <p:sp>
        <p:nvSpPr>
          <p:cNvPr id="32" name="Rectangle 31"/>
          <p:cNvSpPr/>
          <p:nvPr/>
        </p:nvSpPr>
        <p:spPr>
          <a:xfrm>
            <a:off x="274320" y="2642616"/>
            <a:ext cx="292608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2769616"/>
            <a:ext cx="2834640" cy="566928"/>
          </a:xfrm>
          <a:prstGeom prst="rect">
            <a:avLst/>
          </a:prstGeom>
          <a:noFill/>
        </p:spPr>
        <p:txBody>
          <a:bodyPr wrap="square">
            <a:spAutoFit/>
          </a:bodyPr>
          <a:lstStyle/>
          <a:p>
            <a:pPr algn="l"/>
            <a:r>
              <a:rPr sz="1300" b="0" i="0">
                <a:solidFill>
                  <a:srgbClr val="1A2E4A"/>
                </a:solidFill>
                <a:latin typeface="Times New Roman"/>
              </a:rPr>
              <a:t>Decision Tree</a:t>
            </a:r>
          </a:p>
        </p:txBody>
      </p:sp>
      <p:sp>
        <p:nvSpPr>
          <p:cNvPr id="34" name="Rectangle 33"/>
          <p:cNvSpPr/>
          <p:nvPr/>
        </p:nvSpPr>
        <p:spPr>
          <a:xfrm>
            <a:off x="3200400" y="2642616"/>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46120" y="2769616"/>
            <a:ext cx="1280160" cy="566928"/>
          </a:xfrm>
          <a:prstGeom prst="rect">
            <a:avLst/>
          </a:prstGeom>
          <a:noFill/>
        </p:spPr>
        <p:txBody>
          <a:bodyPr wrap="square">
            <a:spAutoFit/>
          </a:bodyPr>
          <a:lstStyle/>
          <a:p>
            <a:pPr algn="ctr"/>
            <a:r>
              <a:rPr sz="1300" b="0" i="0">
                <a:solidFill>
                  <a:srgbClr val="1A2E4A"/>
                </a:solidFill>
                <a:latin typeface="Times New Roman"/>
              </a:rPr>
              <a:t>0.847</a:t>
            </a:r>
          </a:p>
        </p:txBody>
      </p:sp>
      <p:sp>
        <p:nvSpPr>
          <p:cNvPr id="36" name="Rectangle 35"/>
          <p:cNvSpPr/>
          <p:nvPr/>
        </p:nvSpPr>
        <p:spPr>
          <a:xfrm>
            <a:off x="4572000" y="2642616"/>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17720" y="2769616"/>
            <a:ext cx="1280160" cy="566928"/>
          </a:xfrm>
          <a:prstGeom prst="rect">
            <a:avLst/>
          </a:prstGeom>
          <a:noFill/>
        </p:spPr>
        <p:txBody>
          <a:bodyPr wrap="square">
            <a:spAutoFit/>
          </a:bodyPr>
          <a:lstStyle/>
          <a:p>
            <a:pPr algn="ctr"/>
            <a:r>
              <a:rPr sz="1300" b="0" i="0">
                <a:solidFill>
                  <a:srgbClr val="1A2E4A"/>
                </a:solidFill>
                <a:latin typeface="Times New Roman"/>
              </a:rPr>
              <a:t>0.389</a:t>
            </a:r>
          </a:p>
        </p:txBody>
      </p:sp>
      <p:sp>
        <p:nvSpPr>
          <p:cNvPr id="38" name="Rectangle 37"/>
          <p:cNvSpPr/>
          <p:nvPr/>
        </p:nvSpPr>
        <p:spPr>
          <a:xfrm>
            <a:off x="5943600" y="2642616"/>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989320" y="2769616"/>
            <a:ext cx="1280160" cy="566928"/>
          </a:xfrm>
          <a:prstGeom prst="rect">
            <a:avLst/>
          </a:prstGeom>
          <a:noFill/>
        </p:spPr>
        <p:txBody>
          <a:bodyPr wrap="square">
            <a:spAutoFit/>
          </a:bodyPr>
          <a:lstStyle/>
          <a:p>
            <a:pPr algn="ctr"/>
            <a:r>
              <a:rPr sz="1300" b="0" i="0">
                <a:solidFill>
                  <a:srgbClr val="1A2E4A"/>
                </a:solidFill>
                <a:latin typeface="Times New Roman"/>
              </a:rPr>
              <a:t>0.623</a:t>
            </a:r>
          </a:p>
        </p:txBody>
      </p:sp>
      <p:sp>
        <p:nvSpPr>
          <p:cNvPr id="40" name="Rectangle 39"/>
          <p:cNvSpPr/>
          <p:nvPr/>
        </p:nvSpPr>
        <p:spPr>
          <a:xfrm>
            <a:off x="7315200" y="2642616"/>
            <a:ext cx="128016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60920" y="2769616"/>
            <a:ext cx="1188720" cy="566928"/>
          </a:xfrm>
          <a:prstGeom prst="rect">
            <a:avLst/>
          </a:prstGeom>
          <a:noFill/>
        </p:spPr>
        <p:txBody>
          <a:bodyPr wrap="square">
            <a:spAutoFit/>
          </a:bodyPr>
          <a:lstStyle/>
          <a:p>
            <a:pPr algn="ctr"/>
            <a:r>
              <a:rPr sz="1300" b="0" i="0">
                <a:solidFill>
                  <a:srgbClr val="1A2E4A"/>
                </a:solidFill>
                <a:latin typeface="Times New Roman"/>
              </a:rPr>
              <a:t>0.479</a:t>
            </a:r>
          </a:p>
        </p:txBody>
      </p:sp>
      <p:sp>
        <p:nvSpPr>
          <p:cNvPr id="42" name="Rectangle 41"/>
          <p:cNvSpPr/>
          <p:nvPr/>
        </p:nvSpPr>
        <p:spPr>
          <a:xfrm>
            <a:off x="8595360" y="2642616"/>
            <a:ext cx="146304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41080" y="2769616"/>
            <a:ext cx="1371600" cy="566928"/>
          </a:xfrm>
          <a:prstGeom prst="rect">
            <a:avLst/>
          </a:prstGeom>
          <a:noFill/>
        </p:spPr>
        <p:txBody>
          <a:bodyPr wrap="square">
            <a:spAutoFit/>
          </a:bodyPr>
          <a:lstStyle/>
          <a:p>
            <a:pPr algn="ctr"/>
            <a:r>
              <a:rPr sz="1300" b="0" i="0">
                <a:solidFill>
                  <a:srgbClr val="1A2E4A"/>
                </a:solidFill>
                <a:latin typeface="Times New Roman"/>
              </a:rPr>
              <a:t>0.797</a:t>
            </a:r>
          </a:p>
        </p:txBody>
      </p:sp>
      <p:sp>
        <p:nvSpPr>
          <p:cNvPr id="44" name="Rectangle 43"/>
          <p:cNvSpPr/>
          <p:nvPr/>
        </p:nvSpPr>
        <p:spPr>
          <a:xfrm>
            <a:off x="274320" y="3209544"/>
            <a:ext cx="292608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0040" y="3336544"/>
            <a:ext cx="2834640" cy="566928"/>
          </a:xfrm>
          <a:prstGeom prst="rect">
            <a:avLst/>
          </a:prstGeom>
          <a:noFill/>
        </p:spPr>
        <p:txBody>
          <a:bodyPr wrap="square">
            <a:spAutoFit/>
          </a:bodyPr>
          <a:lstStyle/>
          <a:p>
            <a:pPr algn="l"/>
            <a:r>
              <a:rPr sz="1300" b="0" i="0">
                <a:solidFill>
                  <a:srgbClr val="1A2E4A"/>
                </a:solidFill>
                <a:latin typeface="Times New Roman"/>
              </a:rPr>
              <a:t>Logistic Regression</a:t>
            </a:r>
          </a:p>
        </p:txBody>
      </p:sp>
      <p:sp>
        <p:nvSpPr>
          <p:cNvPr id="46" name="Rectangle 45"/>
          <p:cNvSpPr/>
          <p:nvPr/>
        </p:nvSpPr>
        <p:spPr>
          <a:xfrm>
            <a:off x="3200400" y="3209544"/>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46120" y="3336544"/>
            <a:ext cx="1280160" cy="566928"/>
          </a:xfrm>
          <a:prstGeom prst="rect">
            <a:avLst/>
          </a:prstGeom>
          <a:noFill/>
        </p:spPr>
        <p:txBody>
          <a:bodyPr wrap="square">
            <a:spAutoFit/>
          </a:bodyPr>
          <a:lstStyle/>
          <a:p>
            <a:pPr algn="ctr"/>
            <a:r>
              <a:rPr sz="1300" b="0" i="0">
                <a:solidFill>
                  <a:srgbClr val="1A2E4A"/>
                </a:solidFill>
                <a:latin typeface="Times New Roman"/>
              </a:rPr>
              <a:t>0.782</a:t>
            </a:r>
          </a:p>
        </p:txBody>
      </p:sp>
      <p:sp>
        <p:nvSpPr>
          <p:cNvPr id="48" name="Rectangle 47"/>
          <p:cNvSpPr/>
          <p:nvPr/>
        </p:nvSpPr>
        <p:spPr>
          <a:xfrm>
            <a:off x="4572000" y="3209544"/>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17720" y="3336544"/>
            <a:ext cx="1280160" cy="566928"/>
          </a:xfrm>
          <a:prstGeom prst="rect">
            <a:avLst/>
          </a:prstGeom>
          <a:noFill/>
        </p:spPr>
        <p:txBody>
          <a:bodyPr wrap="square">
            <a:spAutoFit/>
          </a:bodyPr>
          <a:lstStyle/>
          <a:p>
            <a:pPr algn="ctr"/>
            <a:r>
              <a:rPr sz="1300" b="0" i="0">
                <a:solidFill>
                  <a:srgbClr val="1A2E4A"/>
                </a:solidFill>
                <a:latin typeface="Times New Roman"/>
              </a:rPr>
              <a:t>0.296</a:t>
            </a:r>
          </a:p>
        </p:txBody>
      </p:sp>
      <p:sp>
        <p:nvSpPr>
          <p:cNvPr id="50" name="Rectangle 49"/>
          <p:cNvSpPr/>
          <p:nvPr/>
        </p:nvSpPr>
        <p:spPr>
          <a:xfrm>
            <a:off x="5943600" y="3209544"/>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989320" y="3336544"/>
            <a:ext cx="1280160" cy="566928"/>
          </a:xfrm>
          <a:prstGeom prst="rect">
            <a:avLst/>
          </a:prstGeom>
          <a:noFill/>
        </p:spPr>
        <p:txBody>
          <a:bodyPr wrap="square">
            <a:spAutoFit/>
          </a:bodyPr>
          <a:lstStyle/>
          <a:p>
            <a:pPr algn="ctr"/>
            <a:r>
              <a:rPr sz="1300" b="0" i="0">
                <a:solidFill>
                  <a:srgbClr val="1A2E4A"/>
                </a:solidFill>
                <a:latin typeface="Times New Roman"/>
              </a:rPr>
              <a:t>0.677</a:t>
            </a:r>
          </a:p>
        </p:txBody>
      </p:sp>
      <p:sp>
        <p:nvSpPr>
          <p:cNvPr id="52" name="Rectangle 51"/>
          <p:cNvSpPr/>
          <p:nvPr/>
        </p:nvSpPr>
        <p:spPr>
          <a:xfrm>
            <a:off x="7315200" y="3209544"/>
            <a:ext cx="128016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360920" y="3336544"/>
            <a:ext cx="1188720" cy="566928"/>
          </a:xfrm>
          <a:prstGeom prst="rect">
            <a:avLst/>
          </a:prstGeom>
          <a:noFill/>
        </p:spPr>
        <p:txBody>
          <a:bodyPr wrap="square">
            <a:spAutoFit/>
          </a:bodyPr>
          <a:lstStyle/>
          <a:p>
            <a:pPr algn="ctr"/>
            <a:r>
              <a:rPr sz="1300" b="0" i="0">
                <a:solidFill>
                  <a:srgbClr val="1A2E4A"/>
                </a:solidFill>
                <a:latin typeface="Times New Roman"/>
              </a:rPr>
              <a:t>0.412</a:t>
            </a:r>
          </a:p>
        </p:txBody>
      </p:sp>
      <p:sp>
        <p:nvSpPr>
          <p:cNvPr id="54" name="Rectangle 53"/>
          <p:cNvSpPr/>
          <p:nvPr/>
        </p:nvSpPr>
        <p:spPr>
          <a:xfrm>
            <a:off x="8595360" y="3209544"/>
            <a:ext cx="146304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641080" y="3336544"/>
            <a:ext cx="1371600" cy="566928"/>
          </a:xfrm>
          <a:prstGeom prst="rect">
            <a:avLst/>
          </a:prstGeom>
          <a:noFill/>
        </p:spPr>
        <p:txBody>
          <a:bodyPr wrap="square">
            <a:spAutoFit/>
          </a:bodyPr>
          <a:lstStyle/>
          <a:p>
            <a:pPr algn="ctr"/>
            <a:r>
              <a:rPr sz="1300" b="0" i="0">
                <a:solidFill>
                  <a:srgbClr val="1A2E4A"/>
                </a:solidFill>
                <a:latin typeface="Times New Roman"/>
              </a:rPr>
              <a:t>0.785</a:t>
            </a:r>
          </a:p>
        </p:txBody>
      </p:sp>
      <p:sp>
        <p:nvSpPr>
          <p:cNvPr id="56" name="Rectangle 55"/>
          <p:cNvSpPr/>
          <p:nvPr/>
        </p:nvSpPr>
        <p:spPr>
          <a:xfrm>
            <a:off x="274320" y="3776472"/>
            <a:ext cx="292608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20040" y="3903472"/>
            <a:ext cx="2834640" cy="566928"/>
          </a:xfrm>
          <a:prstGeom prst="rect">
            <a:avLst/>
          </a:prstGeom>
          <a:noFill/>
        </p:spPr>
        <p:txBody>
          <a:bodyPr wrap="square">
            <a:spAutoFit/>
          </a:bodyPr>
          <a:lstStyle/>
          <a:p>
            <a:pPr algn="l"/>
            <a:r>
              <a:rPr sz="1300" b="0" i="0">
                <a:solidFill>
                  <a:srgbClr val="1A2E4A"/>
                </a:solidFill>
                <a:latin typeface="Times New Roman"/>
              </a:rPr>
              <a:t>Random Forest</a:t>
            </a:r>
          </a:p>
        </p:txBody>
      </p:sp>
      <p:sp>
        <p:nvSpPr>
          <p:cNvPr id="58" name="Rectangle 57"/>
          <p:cNvSpPr/>
          <p:nvPr/>
        </p:nvSpPr>
        <p:spPr>
          <a:xfrm>
            <a:off x="3200400" y="3776472"/>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246120" y="3903472"/>
            <a:ext cx="1280160" cy="566928"/>
          </a:xfrm>
          <a:prstGeom prst="rect">
            <a:avLst/>
          </a:prstGeom>
          <a:noFill/>
        </p:spPr>
        <p:txBody>
          <a:bodyPr wrap="square">
            <a:spAutoFit/>
          </a:bodyPr>
          <a:lstStyle/>
          <a:p>
            <a:pPr algn="ctr"/>
            <a:r>
              <a:rPr sz="1300" b="0" i="0">
                <a:solidFill>
                  <a:srgbClr val="1A2E4A"/>
                </a:solidFill>
                <a:latin typeface="Times New Roman"/>
              </a:rPr>
              <a:t>0.873</a:t>
            </a:r>
          </a:p>
        </p:txBody>
      </p:sp>
      <p:sp>
        <p:nvSpPr>
          <p:cNvPr id="60" name="Rectangle 59"/>
          <p:cNvSpPr/>
          <p:nvPr/>
        </p:nvSpPr>
        <p:spPr>
          <a:xfrm>
            <a:off x="4572000" y="3776472"/>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617720" y="3903472"/>
            <a:ext cx="1280160" cy="566928"/>
          </a:xfrm>
          <a:prstGeom prst="rect">
            <a:avLst/>
          </a:prstGeom>
          <a:noFill/>
        </p:spPr>
        <p:txBody>
          <a:bodyPr wrap="square">
            <a:spAutoFit/>
          </a:bodyPr>
          <a:lstStyle/>
          <a:p>
            <a:pPr algn="ctr"/>
            <a:r>
              <a:rPr sz="1300" b="0" i="0">
                <a:solidFill>
                  <a:srgbClr val="1A2E4A"/>
                </a:solidFill>
                <a:latin typeface="Times New Roman"/>
              </a:rPr>
              <a:t>0.439</a:t>
            </a:r>
          </a:p>
        </p:txBody>
      </p:sp>
      <p:sp>
        <p:nvSpPr>
          <p:cNvPr id="62" name="Rectangle 61"/>
          <p:cNvSpPr/>
          <p:nvPr/>
        </p:nvSpPr>
        <p:spPr>
          <a:xfrm>
            <a:off x="5943600" y="3776472"/>
            <a:ext cx="137160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3903472"/>
            <a:ext cx="1280160" cy="566928"/>
          </a:xfrm>
          <a:prstGeom prst="rect">
            <a:avLst/>
          </a:prstGeom>
          <a:noFill/>
        </p:spPr>
        <p:txBody>
          <a:bodyPr wrap="square">
            <a:spAutoFit/>
          </a:bodyPr>
          <a:lstStyle/>
          <a:p>
            <a:pPr algn="ctr"/>
            <a:r>
              <a:rPr sz="1300" b="0" i="0">
                <a:solidFill>
                  <a:srgbClr val="1A2E4A"/>
                </a:solidFill>
                <a:latin typeface="Times New Roman"/>
              </a:rPr>
              <a:t>0.457</a:t>
            </a:r>
          </a:p>
        </p:txBody>
      </p:sp>
      <p:sp>
        <p:nvSpPr>
          <p:cNvPr id="64" name="Rectangle 63"/>
          <p:cNvSpPr/>
          <p:nvPr/>
        </p:nvSpPr>
        <p:spPr>
          <a:xfrm>
            <a:off x="7315200" y="3776472"/>
            <a:ext cx="128016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360920" y="3903472"/>
            <a:ext cx="1188720" cy="566928"/>
          </a:xfrm>
          <a:prstGeom prst="rect">
            <a:avLst/>
          </a:prstGeom>
          <a:noFill/>
        </p:spPr>
        <p:txBody>
          <a:bodyPr wrap="square">
            <a:spAutoFit/>
          </a:bodyPr>
          <a:lstStyle/>
          <a:p>
            <a:pPr algn="ctr"/>
            <a:r>
              <a:rPr sz="1300" b="0" i="0">
                <a:solidFill>
                  <a:srgbClr val="1A2E4A"/>
                </a:solidFill>
                <a:latin typeface="Times New Roman"/>
              </a:rPr>
              <a:t>0.448</a:t>
            </a:r>
          </a:p>
        </p:txBody>
      </p:sp>
      <p:sp>
        <p:nvSpPr>
          <p:cNvPr id="66" name="Rectangle 65"/>
          <p:cNvSpPr/>
          <p:nvPr/>
        </p:nvSpPr>
        <p:spPr>
          <a:xfrm>
            <a:off x="8595360" y="3776472"/>
            <a:ext cx="1463040" cy="566928"/>
          </a:xfrm>
          <a:prstGeom prst="rect">
            <a:avLst/>
          </a:prstGeom>
          <a:solidFill>
            <a:srgbClr val="FFFFFF"/>
          </a:solidFill>
          <a:ln w="1016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41080" y="3903472"/>
            <a:ext cx="1371600" cy="566928"/>
          </a:xfrm>
          <a:prstGeom prst="rect">
            <a:avLst/>
          </a:prstGeom>
          <a:noFill/>
        </p:spPr>
        <p:txBody>
          <a:bodyPr wrap="square">
            <a:spAutoFit/>
          </a:bodyPr>
          <a:lstStyle/>
          <a:p>
            <a:pPr algn="ctr"/>
            <a:r>
              <a:rPr sz="1300" b="0" i="0">
                <a:solidFill>
                  <a:srgbClr val="1A2E4A"/>
                </a:solidFill>
                <a:latin typeface="Times New Roman"/>
              </a:rPr>
              <a:t>0.783</a:t>
            </a:r>
          </a:p>
        </p:txBody>
      </p:sp>
      <p:sp>
        <p:nvSpPr>
          <p:cNvPr id="68" name="Rectangle 67"/>
          <p:cNvSpPr/>
          <p:nvPr/>
        </p:nvSpPr>
        <p:spPr>
          <a:xfrm>
            <a:off x="274320" y="4617720"/>
            <a:ext cx="3749039" cy="1737360"/>
          </a:xfrm>
          <a:prstGeom prst="rect">
            <a:avLst/>
          </a:prstGeom>
          <a:solidFill>
            <a:srgbClr val="FFFFFF"/>
          </a:solidFill>
          <a:ln w="15240">
            <a:solidFill>
              <a:srgbClr val="1E8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65760" y="4709160"/>
            <a:ext cx="3566160" cy="365760"/>
          </a:xfrm>
          <a:prstGeom prst="rect">
            <a:avLst/>
          </a:prstGeom>
          <a:noFill/>
        </p:spPr>
        <p:txBody>
          <a:bodyPr wrap="square">
            <a:spAutoFit/>
          </a:bodyPr>
          <a:lstStyle/>
          <a:p>
            <a:pPr algn="l"/>
            <a:r>
              <a:rPr sz="1200" b="1" i="0">
                <a:solidFill>
                  <a:srgbClr val="1E8B4F"/>
                </a:solidFill>
                <a:latin typeface="Times New Roman"/>
              </a:rPr>
              <a:t>Best Ranker</a:t>
            </a:r>
          </a:p>
        </p:txBody>
      </p:sp>
      <p:sp>
        <p:nvSpPr>
          <p:cNvPr id="70" name="TextBox 69"/>
          <p:cNvSpPr txBox="1"/>
          <p:nvPr/>
        </p:nvSpPr>
        <p:spPr>
          <a:xfrm>
            <a:off x="365760" y="5056632"/>
            <a:ext cx="3566160" cy="1188720"/>
          </a:xfrm>
          <a:prstGeom prst="rect">
            <a:avLst/>
          </a:prstGeom>
          <a:noFill/>
        </p:spPr>
        <p:txBody>
          <a:bodyPr wrap="square">
            <a:spAutoFit/>
          </a:bodyPr>
          <a:lstStyle/>
          <a:p>
            <a:pPr algn="l"/>
            <a:r>
              <a:rPr sz="1100" b="0" i="0">
                <a:solidFill>
                  <a:srgbClr val="1A2E4A"/>
                </a:solidFill>
                <a:latin typeface="Times New Roman"/>
              </a:rPr>
              <a:t>Gradient Boosting leads on ROC-AUC (0.813) and Precision. Best for efficient targeting.</a:t>
            </a:r>
          </a:p>
        </p:txBody>
      </p:sp>
      <p:sp>
        <p:nvSpPr>
          <p:cNvPr id="71" name="Rectangle 70"/>
          <p:cNvSpPr/>
          <p:nvPr/>
        </p:nvSpPr>
        <p:spPr>
          <a:xfrm>
            <a:off x="4251959" y="4617720"/>
            <a:ext cx="3749039" cy="1737360"/>
          </a:xfrm>
          <a:prstGeom prst="rect">
            <a:avLst/>
          </a:prstGeom>
          <a:solidFill>
            <a:srgbClr val="FFFFFF"/>
          </a:solidFill>
          <a:ln w="15240">
            <a:solidFill>
              <a:srgbClr val="1A7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343399" y="4709160"/>
            <a:ext cx="3566160" cy="365760"/>
          </a:xfrm>
          <a:prstGeom prst="rect">
            <a:avLst/>
          </a:prstGeom>
          <a:noFill/>
        </p:spPr>
        <p:txBody>
          <a:bodyPr wrap="square">
            <a:spAutoFit/>
          </a:bodyPr>
          <a:lstStyle/>
          <a:p>
            <a:pPr algn="l"/>
            <a:r>
              <a:rPr sz="1200" b="1" i="0">
                <a:solidFill>
                  <a:srgbClr val="1A7A7A"/>
                </a:solidFill>
                <a:latin typeface="Times New Roman"/>
              </a:rPr>
              <a:t>Best Recall</a:t>
            </a:r>
          </a:p>
        </p:txBody>
      </p:sp>
      <p:sp>
        <p:nvSpPr>
          <p:cNvPr id="73" name="TextBox 72"/>
          <p:cNvSpPr txBox="1"/>
          <p:nvPr/>
        </p:nvSpPr>
        <p:spPr>
          <a:xfrm>
            <a:off x="4343399" y="5056632"/>
            <a:ext cx="3566160" cy="1188720"/>
          </a:xfrm>
          <a:prstGeom prst="rect">
            <a:avLst/>
          </a:prstGeom>
          <a:noFill/>
        </p:spPr>
        <p:txBody>
          <a:bodyPr wrap="square">
            <a:spAutoFit/>
          </a:bodyPr>
          <a:lstStyle/>
          <a:p>
            <a:pPr algn="l"/>
            <a:r>
              <a:rPr sz="1100" b="0" i="0">
                <a:solidFill>
                  <a:srgbClr val="1A2E4A"/>
                </a:solidFill>
                <a:latin typeface="Times New Roman"/>
              </a:rPr>
              <a:t>Logistic Regression catches 68% of subscribers. Best when missing a customer is costly.</a:t>
            </a:r>
          </a:p>
        </p:txBody>
      </p:sp>
      <p:sp>
        <p:nvSpPr>
          <p:cNvPr id="74" name="Rectangle 73"/>
          <p:cNvSpPr/>
          <p:nvPr/>
        </p:nvSpPr>
        <p:spPr>
          <a:xfrm>
            <a:off x="8229598" y="4617720"/>
            <a:ext cx="3749039" cy="1737360"/>
          </a:xfrm>
          <a:prstGeom prst="rect">
            <a:avLst/>
          </a:prstGeom>
          <a:solidFill>
            <a:srgbClr val="FFFFFF"/>
          </a:solidFill>
          <a:ln w="1524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321038" y="4709160"/>
            <a:ext cx="3566160" cy="365760"/>
          </a:xfrm>
          <a:prstGeom prst="rect">
            <a:avLst/>
          </a:prstGeom>
          <a:noFill/>
        </p:spPr>
        <p:txBody>
          <a:bodyPr wrap="square">
            <a:spAutoFit/>
          </a:bodyPr>
          <a:lstStyle/>
          <a:p>
            <a:pPr algn="l"/>
            <a:r>
              <a:rPr sz="1200" b="1" i="0">
                <a:solidFill>
                  <a:srgbClr val="1A2E4A"/>
                </a:solidFill>
                <a:latin typeface="Times New Roman"/>
              </a:rPr>
              <a:t>Key Trade-off</a:t>
            </a:r>
          </a:p>
        </p:txBody>
      </p:sp>
      <p:sp>
        <p:nvSpPr>
          <p:cNvPr id="76" name="TextBox 75"/>
          <p:cNvSpPr txBox="1"/>
          <p:nvPr/>
        </p:nvSpPr>
        <p:spPr>
          <a:xfrm>
            <a:off x="8321038" y="5056632"/>
            <a:ext cx="3566160" cy="1188720"/>
          </a:xfrm>
          <a:prstGeom prst="rect">
            <a:avLst/>
          </a:prstGeom>
          <a:noFill/>
        </p:spPr>
        <p:txBody>
          <a:bodyPr wrap="square">
            <a:spAutoFit/>
          </a:bodyPr>
          <a:lstStyle/>
          <a:p>
            <a:pPr algn="l"/>
            <a:r>
              <a:rPr sz="1100" b="0" i="0">
                <a:solidFill>
                  <a:srgbClr val="1A2E4A"/>
                </a:solidFill>
                <a:latin typeface="Times New Roman"/>
              </a:rPr>
              <a:t>High precision = fewer wasted calls. High recall = fewer missed customers. Choose by campaign goal.</a:t>
            </a:r>
          </a:p>
        </p:txBody>
      </p:sp>
      <p:sp>
        <p:nvSpPr>
          <p:cNvPr id="77" name="TextBox 76"/>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78" name="TextBox 77"/>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5 of 8</a:t>
            </a:r>
          </a:p>
        </p:txBody>
      </p:sp>
      <p:sp>
        <p:nvSpPr>
          <p:cNvPr id="79" name="Rectangle 78"/>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3444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30000" cy="685800"/>
          </a:xfrm>
          <a:prstGeom prst="rect">
            <a:avLst/>
          </a:prstGeom>
          <a:noFill/>
        </p:spPr>
        <p:txBody>
          <a:bodyPr wrap="square">
            <a:spAutoFit/>
          </a:bodyPr>
          <a:lstStyle/>
          <a:p>
            <a:pPr algn="l"/>
            <a:r>
              <a:rPr sz="3000" b="1" i="0">
                <a:solidFill>
                  <a:srgbClr val="FFFFFF"/>
                </a:solidFill>
                <a:latin typeface="Times New Roman"/>
              </a:rPr>
              <a:t>ROC Curves — Visualising Model Discrimination</a:t>
            </a:r>
          </a:p>
        </p:txBody>
      </p:sp>
      <p:sp>
        <p:nvSpPr>
          <p:cNvPr id="6" name="TextBox 5"/>
          <p:cNvSpPr txBox="1"/>
          <p:nvPr/>
        </p:nvSpPr>
        <p:spPr>
          <a:xfrm>
            <a:off x="365760" y="804672"/>
            <a:ext cx="11430000" cy="365760"/>
          </a:xfrm>
          <a:prstGeom prst="rect">
            <a:avLst/>
          </a:prstGeom>
          <a:noFill/>
        </p:spPr>
        <p:txBody>
          <a:bodyPr wrap="square">
            <a:spAutoFit/>
          </a:bodyPr>
          <a:lstStyle/>
          <a:p>
            <a:pPr algn="l"/>
            <a:r>
              <a:rPr sz="1600" b="0" i="1">
                <a:solidFill>
                  <a:srgbClr val="C9A02A"/>
                </a:solidFill>
                <a:latin typeface="Times New Roman"/>
              </a:rPr>
              <a:t>How well each model separates subscribers from non-subscribers</a:t>
            </a:r>
          </a:p>
        </p:txBody>
      </p:sp>
      <p:sp>
        <p:nvSpPr>
          <p:cNvPr id="7" name="Rectangle 6"/>
          <p:cNvSpPr/>
          <p:nvPr/>
        </p:nvSpPr>
        <p:spPr>
          <a:xfrm>
            <a:off x="228600" y="1463040"/>
            <a:ext cx="6949440" cy="480060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10_roc.png"/>
          <p:cNvPicPr>
            <a:picLocks noChangeAspect="1"/>
          </p:cNvPicPr>
          <p:nvPr/>
        </p:nvPicPr>
        <p:blipFill>
          <a:blip r:embed="rId2"/>
          <a:stretch>
            <a:fillRect/>
          </a:stretch>
        </p:blipFill>
        <p:spPr>
          <a:xfrm>
            <a:off x="320040" y="1572768"/>
            <a:ext cx="6766560" cy="4572000"/>
          </a:xfrm>
          <a:prstGeom prst="rect">
            <a:avLst/>
          </a:prstGeom>
        </p:spPr>
      </p:pic>
      <p:sp>
        <p:nvSpPr>
          <p:cNvPr id="9" name="Rectangle 8"/>
          <p:cNvSpPr/>
          <p:nvPr/>
        </p:nvSpPr>
        <p:spPr>
          <a:xfrm>
            <a:off x="7452360" y="1463040"/>
            <a:ext cx="4434840" cy="480060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0" y="1600200"/>
            <a:ext cx="4160520" cy="365760"/>
          </a:xfrm>
          <a:prstGeom prst="rect">
            <a:avLst/>
          </a:prstGeom>
          <a:noFill/>
        </p:spPr>
        <p:txBody>
          <a:bodyPr wrap="square">
            <a:spAutoFit/>
          </a:bodyPr>
          <a:lstStyle/>
          <a:p>
            <a:pPr algn="l"/>
            <a:r>
              <a:rPr sz="1200" b="1" i="0">
                <a:solidFill>
                  <a:srgbClr val="1A2E4A"/>
                </a:solidFill>
                <a:latin typeface="Times New Roman"/>
              </a:rPr>
              <a:t>READING THE ROC CURVE</a:t>
            </a:r>
          </a:p>
        </p:txBody>
      </p:sp>
      <p:sp>
        <p:nvSpPr>
          <p:cNvPr id="11" name="Rectangle 10"/>
          <p:cNvSpPr/>
          <p:nvPr/>
        </p:nvSpPr>
        <p:spPr>
          <a:xfrm>
            <a:off x="7589520" y="1993392"/>
            <a:ext cx="4160520"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589520" y="2103120"/>
            <a:ext cx="64008" cy="68580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44968" y="2103120"/>
            <a:ext cx="4023360" cy="292608"/>
          </a:xfrm>
          <a:prstGeom prst="rect">
            <a:avLst/>
          </a:prstGeom>
          <a:noFill/>
        </p:spPr>
        <p:txBody>
          <a:bodyPr wrap="square">
            <a:spAutoFit/>
          </a:bodyPr>
          <a:lstStyle/>
          <a:p>
            <a:pPr algn="l"/>
            <a:r>
              <a:rPr sz="1100" b="1" i="0">
                <a:solidFill>
                  <a:srgbClr val="1A2E4A"/>
                </a:solidFill>
                <a:latin typeface="Times New Roman"/>
              </a:rPr>
              <a:t>What is it?</a:t>
            </a:r>
          </a:p>
        </p:txBody>
      </p:sp>
      <p:sp>
        <p:nvSpPr>
          <p:cNvPr id="14" name="TextBox 13"/>
          <p:cNvSpPr txBox="1"/>
          <p:nvPr/>
        </p:nvSpPr>
        <p:spPr>
          <a:xfrm>
            <a:off x="7744968" y="2377440"/>
            <a:ext cx="4023360" cy="548640"/>
          </a:xfrm>
          <a:prstGeom prst="rect">
            <a:avLst/>
          </a:prstGeom>
          <a:noFill/>
        </p:spPr>
        <p:txBody>
          <a:bodyPr wrap="square">
            <a:spAutoFit/>
          </a:bodyPr>
          <a:lstStyle/>
          <a:p>
            <a:pPr algn="l"/>
            <a:r>
              <a:rPr sz="1050" b="0" i="0">
                <a:solidFill>
                  <a:srgbClr val="1A2E4A"/>
                </a:solidFill>
                <a:latin typeface="Times New Roman"/>
              </a:rPr>
              <a:t>The ROC curve plots the True Positive Rate (subscribers correctly caught) against the False Positive Rate (non-subscribers wrongly flagged) at every possible decision threshold.</a:t>
            </a:r>
          </a:p>
        </p:txBody>
      </p:sp>
      <p:sp>
        <p:nvSpPr>
          <p:cNvPr id="15" name="Rectangle 14"/>
          <p:cNvSpPr/>
          <p:nvPr/>
        </p:nvSpPr>
        <p:spPr>
          <a:xfrm>
            <a:off x="7589520" y="2971800"/>
            <a:ext cx="64008" cy="68580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44968" y="2971800"/>
            <a:ext cx="4023360" cy="292608"/>
          </a:xfrm>
          <a:prstGeom prst="rect">
            <a:avLst/>
          </a:prstGeom>
          <a:noFill/>
        </p:spPr>
        <p:txBody>
          <a:bodyPr wrap="square">
            <a:spAutoFit/>
          </a:bodyPr>
          <a:lstStyle/>
          <a:p>
            <a:pPr algn="l"/>
            <a:r>
              <a:rPr sz="1100" b="1" i="0">
                <a:solidFill>
                  <a:srgbClr val="1A2E4A"/>
                </a:solidFill>
                <a:latin typeface="Times New Roman"/>
              </a:rPr>
              <a:t>The diagonal line</a:t>
            </a:r>
          </a:p>
        </p:txBody>
      </p:sp>
      <p:sp>
        <p:nvSpPr>
          <p:cNvPr id="17" name="TextBox 16"/>
          <p:cNvSpPr txBox="1"/>
          <p:nvPr/>
        </p:nvSpPr>
        <p:spPr>
          <a:xfrm>
            <a:off x="7744968" y="3246120"/>
            <a:ext cx="4023360" cy="548640"/>
          </a:xfrm>
          <a:prstGeom prst="rect">
            <a:avLst/>
          </a:prstGeom>
          <a:noFill/>
        </p:spPr>
        <p:txBody>
          <a:bodyPr wrap="square">
            <a:spAutoFit/>
          </a:bodyPr>
          <a:lstStyle/>
          <a:p>
            <a:pPr algn="l"/>
            <a:r>
              <a:rPr sz="1050" b="0" i="0">
                <a:solidFill>
                  <a:srgbClr val="1A2E4A"/>
                </a:solidFill>
                <a:latin typeface="Times New Roman"/>
              </a:rPr>
              <a:t>Represents random guessing (AUC = 0.50). Any model above this line is doing better than chance.</a:t>
            </a:r>
          </a:p>
        </p:txBody>
      </p:sp>
      <p:sp>
        <p:nvSpPr>
          <p:cNvPr id="18" name="Rectangle 17"/>
          <p:cNvSpPr/>
          <p:nvPr/>
        </p:nvSpPr>
        <p:spPr>
          <a:xfrm>
            <a:off x="7589520" y="3840480"/>
            <a:ext cx="64008" cy="68580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44968" y="3840480"/>
            <a:ext cx="4023360" cy="292608"/>
          </a:xfrm>
          <a:prstGeom prst="rect">
            <a:avLst/>
          </a:prstGeom>
          <a:noFill/>
        </p:spPr>
        <p:txBody>
          <a:bodyPr wrap="square">
            <a:spAutoFit/>
          </a:bodyPr>
          <a:lstStyle/>
          <a:p>
            <a:pPr algn="l"/>
            <a:r>
              <a:rPr sz="1100" b="1" i="0">
                <a:solidFill>
                  <a:srgbClr val="1A2E4A"/>
                </a:solidFill>
                <a:latin typeface="Times New Roman"/>
              </a:rPr>
              <a:t>Top-left is best</a:t>
            </a:r>
          </a:p>
        </p:txBody>
      </p:sp>
      <p:sp>
        <p:nvSpPr>
          <p:cNvPr id="20" name="TextBox 19"/>
          <p:cNvSpPr txBox="1"/>
          <p:nvPr/>
        </p:nvSpPr>
        <p:spPr>
          <a:xfrm>
            <a:off x="7744968" y="4114800"/>
            <a:ext cx="4023360" cy="548640"/>
          </a:xfrm>
          <a:prstGeom prst="rect">
            <a:avLst/>
          </a:prstGeom>
          <a:noFill/>
        </p:spPr>
        <p:txBody>
          <a:bodyPr wrap="square">
            <a:spAutoFit/>
          </a:bodyPr>
          <a:lstStyle/>
          <a:p>
            <a:pPr algn="l"/>
            <a:r>
              <a:rPr sz="1050" b="0" i="0">
                <a:solidFill>
                  <a:srgbClr val="1A2E4A"/>
                </a:solidFill>
                <a:latin typeface="Times New Roman"/>
              </a:rPr>
              <a:t>A curve that bows toward the top-left corner catches more subscribers while keeping false alarms low. AUC summarises this in one number.</a:t>
            </a:r>
          </a:p>
        </p:txBody>
      </p:sp>
      <p:sp>
        <p:nvSpPr>
          <p:cNvPr id="21" name="Rectangle 20"/>
          <p:cNvSpPr/>
          <p:nvPr/>
        </p:nvSpPr>
        <p:spPr>
          <a:xfrm>
            <a:off x="7589520" y="4709160"/>
            <a:ext cx="64008" cy="68580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44968" y="4709160"/>
            <a:ext cx="4023360" cy="292608"/>
          </a:xfrm>
          <a:prstGeom prst="rect">
            <a:avLst/>
          </a:prstGeom>
          <a:noFill/>
        </p:spPr>
        <p:txBody>
          <a:bodyPr wrap="square">
            <a:spAutoFit/>
          </a:bodyPr>
          <a:lstStyle/>
          <a:p>
            <a:pPr algn="l"/>
            <a:r>
              <a:rPr sz="1100" b="1" i="0">
                <a:solidFill>
                  <a:srgbClr val="1A2E4A"/>
                </a:solidFill>
                <a:latin typeface="Times New Roman"/>
              </a:rPr>
              <a:t>Our results</a:t>
            </a:r>
          </a:p>
        </p:txBody>
      </p:sp>
      <p:sp>
        <p:nvSpPr>
          <p:cNvPr id="23" name="TextBox 22"/>
          <p:cNvSpPr txBox="1"/>
          <p:nvPr/>
        </p:nvSpPr>
        <p:spPr>
          <a:xfrm>
            <a:off x="7744968" y="4983480"/>
            <a:ext cx="4023360" cy="548640"/>
          </a:xfrm>
          <a:prstGeom prst="rect">
            <a:avLst/>
          </a:prstGeom>
          <a:noFill/>
        </p:spPr>
        <p:txBody>
          <a:bodyPr wrap="square">
            <a:spAutoFit/>
          </a:bodyPr>
          <a:lstStyle/>
          <a:p>
            <a:pPr algn="l"/>
            <a:r>
              <a:rPr sz="1050" b="0" i="0">
                <a:solidFill>
                  <a:srgbClr val="1A2E4A"/>
                </a:solidFill>
                <a:latin typeface="Times New Roman"/>
              </a:rPr>
              <a:t>Gradient Boosting leads at AUC 0.813, followed by Decision Tree (0.797), Logistic Regression (0.785) and Random Forest (0.783). All four substantially outperform random guessing.</a:t>
            </a:r>
          </a:p>
        </p:txBody>
      </p:sp>
      <p:sp>
        <p:nvSpPr>
          <p:cNvPr id="24" name="Rectangle 23"/>
          <p:cNvSpPr/>
          <p:nvPr/>
        </p:nvSpPr>
        <p:spPr>
          <a:xfrm>
            <a:off x="7589520" y="5577840"/>
            <a:ext cx="64008" cy="68580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44968" y="5577840"/>
            <a:ext cx="4023360" cy="292608"/>
          </a:xfrm>
          <a:prstGeom prst="rect">
            <a:avLst/>
          </a:prstGeom>
          <a:noFill/>
        </p:spPr>
        <p:txBody>
          <a:bodyPr wrap="square">
            <a:spAutoFit/>
          </a:bodyPr>
          <a:lstStyle/>
          <a:p>
            <a:pPr algn="l"/>
            <a:r>
              <a:rPr sz="1100" b="1" i="0">
                <a:solidFill>
                  <a:srgbClr val="1A2E4A"/>
                </a:solidFill>
                <a:latin typeface="Times New Roman"/>
              </a:rPr>
              <a:t>Business meaning</a:t>
            </a:r>
          </a:p>
        </p:txBody>
      </p:sp>
      <p:sp>
        <p:nvSpPr>
          <p:cNvPr id="26" name="TextBox 25"/>
          <p:cNvSpPr txBox="1"/>
          <p:nvPr/>
        </p:nvSpPr>
        <p:spPr>
          <a:xfrm>
            <a:off x="7744968" y="5852160"/>
            <a:ext cx="4023360" cy="548640"/>
          </a:xfrm>
          <a:prstGeom prst="rect">
            <a:avLst/>
          </a:prstGeom>
          <a:noFill/>
        </p:spPr>
        <p:txBody>
          <a:bodyPr wrap="square">
            <a:spAutoFit/>
          </a:bodyPr>
          <a:lstStyle/>
          <a:p>
            <a:pPr algn="l"/>
            <a:r>
              <a:rPr sz="1050" b="0" i="0">
                <a:solidFill>
                  <a:srgbClr val="1A2E4A"/>
                </a:solidFill>
                <a:latin typeface="Times New Roman"/>
              </a:rPr>
              <a:t>AUC tells us how reliably the model ranks a real subscriber above a non-subscriber. At AUC 0.813, Gradient Boosting ranks correctly about 81% of the time — a strong foundation for lead prioritisation.</a:t>
            </a:r>
          </a:p>
        </p:txBody>
      </p:sp>
      <p:sp>
        <p:nvSpPr>
          <p:cNvPr id="27" name="TextBox 26"/>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28" name="TextBox 27"/>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6 of 8</a:t>
            </a:r>
          </a:p>
        </p:txBody>
      </p:sp>
      <p:sp>
        <p:nvSpPr>
          <p:cNvPr id="29" name="Rectangle 28"/>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23444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23444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64592"/>
            <a:ext cx="11430000" cy="685800"/>
          </a:xfrm>
          <a:prstGeom prst="rect">
            <a:avLst/>
          </a:prstGeom>
          <a:noFill/>
        </p:spPr>
        <p:txBody>
          <a:bodyPr wrap="square">
            <a:spAutoFit/>
          </a:bodyPr>
          <a:lstStyle/>
          <a:p>
            <a:pPr algn="l"/>
            <a:r>
              <a:rPr sz="3000" b="1" i="0">
                <a:solidFill>
                  <a:srgbClr val="FFFFFF"/>
                </a:solidFill>
                <a:latin typeface="Times New Roman"/>
              </a:rPr>
              <a:t>Key Findings and Strategic Recommendations</a:t>
            </a:r>
          </a:p>
        </p:txBody>
      </p:sp>
      <p:sp>
        <p:nvSpPr>
          <p:cNvPr id="6" name="TextBox 5"/>
          <p:cNvSpPr txBox="1"/>
          <p:nvPr/>
        </p:nvSpPr>
        <p:spPr>
          <a:xfrm>
            <a:off x="365760" y="804672"/>
            <a:ext cx="11430000" cy="365760"/>
          </a:xfrm>
          <a:prstGeom prst="rect">
            <a:avLst/>
          </a:prstGeom>
          <a:noFill/>
        </p:spPr>
        <p:txBody>
          <a:bodyPr wrap="square">
            <a:spAutoFit/>
          </a:bodyPr>
          <a:lstStyle/>
          <a:p>
            <a:pPr algn="l"/>
            <a:r>
              <a:rPr sz="1600" b="0" i="1">
                <a:solidFill>
                  <a:srgbClr val="C9A02A"/>
                </a:solidFill>
                <a:latin typeface="Times New Roman"/>
              </a:rPr>
              <a:t>What the data revealed — and what the bank should do</a:t>
            </a:r>
          </a:p>
        </p:txBody>
      </p:sp>
      <p:sp>
        <p:nvSpPr>
          <p:cNvPr id="7" name="Rectangle 6"/>
          <p:cNvSpPr/>
          <p:nvPr/>
        </p:nvSpPr>
        <p:spPr>
          <a:xfrm>
            <a:off x="228600" y="1463040"/>
            <a:ext cx="5669280" cy="4846320"/>
          </a:xfrm>
          <a:prstGeom prst="rect">
            <a:avLst/>
          </a:prstGeom>
          <a:solidFill>
            <a:srgbClr val="FFFFFF"/>
          </a:solidFill>
          <a:ln w="12700">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600200"/>
            <a:ext cx="5394960" cy="347472"/>
          </a:xfrm>
          <a:prstGeom prst="rect">
            <a:avLst/>
          </a:prstGeom>
          <a:noFill/>
        </p:spPr>
        <p:txBody>
          <a:bodyPr wrap="square">
            <a:spAutoFit/>
          </a:bodyPr>
          <a:lstStyle/>
          <a:p>
            <a:pPr algn="l"/>
            <a:r>
              <a:rPr sz="1200" b="1" i="0">
                <a:solidFill>
                  <a:srgbClr val="1A2E4A"/>
                </a:solidFill>
                <a:latin typeface="Times New Roman"/>
              </a:rPr>
              <a:t>WHAT THE DATA REVEALED</a:t>
            </a:r>
          </a:p>
        </p:txBody>
      </p:sp>
      <p:sp>
        <p:nvSpPr>
          <p:cNvPr id="9" name="Rectangle 8"/>
          <p:cNvSpPr/>
          <p:nvPr/>
        </p:nvSpPr>
        <p:spPr>
          <a:xfrm>
            <a:off x="365760" y="1975104"/>
            <a:ext cx="5394960"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2103120"/>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0352" y="2103120"/>
            <a:ext cx="5257800" cy="347472"/>
          </a:xfrm>
          <a:prstGeom prst="rect">
            <a:avLst/>
          </a:prstGeom>
          <a:noFill/>
        </p:spPr>
        <p:txBody>
          <a:bodyPr wrap="square">
            <a:spAutoFit/>
          </a:bodyPr>
          <a:lstStyle/>
          <a:p>
            <a:pPr algn="l"/>
            <a:r>
              <a:rPr sz="1200" b="1" i="0">
                <a:solidFill>
                  <a:srgbClr val="1A2E4A"/>
                </a:solidFill>
                <a:latin typeface="Times New Roman"/>
              </a:rPr>
              <a:t>Timing matters as much as targeting.</a:t>
            </a:r>
          </a:p>
        </p:txBody>
      </p:sp>
      <p:sp>
        <p:nvSpPr>
          <p:cNvPr id="12" name="TextBox 11"/>
          <p:cNvSpPr txBox="1"/>
          <p:nvPr/>
        </p:nvSpPr>
        <p:spPr>
          <a:xfrm>
            <a:off x="530352" y="2432304"/>
            <a:ext cx="5257800" cy="384048"/>
          </a:xfrm>
          <a:prstGeom prst="rect">
            <a:avLst/>
          </a:prstGeom>
          <a:noFill/>
        </p:spPr>
        <p:txBody>
          <a:bodyPr wrap="square">
            <a:spAutoFit/>
          </a:bodyPr>
          <a:lstStyle/>
          <a:p>
            <a:pPr algn="l"/>
            <a:r>
              <a:rPr sz="1100" b="0" i="1">
                <a:solidFill>
                  <a:srgbClr val="4A4A6A"/>
                </a:solidFill>
                <a:latin typeface="Times New Roman"/>
              </a:rPr>
              <a:t>The interest-rate environment (euribor3m) is one of the strongest predictors.</a:t>
            </a:r>
          </a:p>
        </p:txBody>
      </p:sp>
      <p:sp>
        <p:nvSpPr>
          <p:cNvPr id="13" name="Rectangle 12"/>
          <p:cNvSpPr/>
          <p:nvPr/>
        </p:nvSpPr>
        <p:spPr>
          <a:xfrm>
            <a:off x="365760" y="2999232"/>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0352" y="2999232"/>
            <a:ext cx="5257800" cy="347472"/>
          </a:xfrm>
          <a:prstGeom prst="rect">
            <a:avLst/>
          </a:prstGeom>
          <a:noFill/>
        </p:spPr>
        <p:txBody>
          <a:bodyPr wrap="square">
            <a:spAutoFit/>
          </a:bodyPr>
          <a:lstStyle/>
          <a:p>
            <a:pPr algn="l"/>
            <a:r>
              <a:rPr sz="1200" b="1" i="0">
                <a:solidFill>
                  <a:srgbClr val="1A2E4A"/>
                </a:solidFill>
                <a:latin typeface="Times New Roman"/>
              </a:rPr>
              <a:t>Past subscribers convert at 65%.</a:t>
            </a:r>
          </a:p>
        </p:txBody>
      </p:sp>
      <p:sp>
        <p:nvSpPr>
          <p:cNvPr id="15" name="TextBox 14"/>
          <p:cNvSpPr txBox="1"/>
          <p:nvPr/>
        </p:nvSpPr>
        <p:spPr>
          <a:xfrm>
            <a:off x="530352" y="3328416"/>
            <a:ext cx="5257800" cy="384048"/>
          </a:xfrm>
          <a:prstGeom prst="rect">
            <a:avLst/>
          </a:prstGeom>
          <a:noFill/>
        </p:spPr>
        <p:txBody>
          <a:bodyPr wrap="square">
            <a:spAutoFit/>
          </a:bodyPr>
          <a:lstStyle/>
          <a:p>
            <a:pPr algn="l"/>
            <a:r>
              <a:rPr sz="1100" b="0" i="1">
                <a:solidFill>
                  <a:srgbClr val="4A4A6A"/>
                </a:solidFill>
                <a:latin typeface="Times New Roman"/>
              </a:rPr>
              <a:t>A previous subscriber is the most reliable lead in the database.</a:t>
            </a:r>
          </a:p>
        </p:txBody>
      </p:sp>
      <p:sp>
        <p:nvSpPr>
          <p:cNvPr id="16" name="Rectangle 15"/>
          <p:cNvSpPr/>
          <p:nvPr/>
        </p:nvSpPr>
        <p:spPr>
          <a:xfrm>
            <a:off x="365760" y="3895344"/>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352" y="3895344"/>
            <a:ext cx="5257800" cy="347472"/>
          </a:xfrm>
          <a:prstGeom prst="rect">
            <a:avLst/>
          </a:prstGeom>
          <a:noFill/>
        </p:spPr>
        <p:txBody>
          <a:bodyPr wrap="square">
            <a:spAutoFit/>
          </a:bodyPr>
          <a:lstStyle/>
          <a:p>
            <a:pPr algn="l"/>
            <a:r>
              <a:rPr sz="1200" b="1" i="0">
                <a:solidFill>
                  <a:srgbClr val="1A2E4A"/>
                </a:solidFill>
                <a:latin typeface="Times New Roman"/>
              </a:rPr>
              <a:t>May is the worst month — and gets the most calls.</a:t>
            </a:r>
          </a:p>
        </p:txBody>
      </p:sp>
      <p:sp>
        <p:nvSpPr>
          <p:cNvPr id="18" name="TextBox 17"/>
          <p:cNvSpPr txBox="1"/>
          <p:nvPr/>
        </p:nvSpPr>
        <p:spPr>
          <a:xfrm>
            <a:off x="530352" y="4224528"/>
            <a:ext cx="5257800" cy="384048"/>
          </a:xfrm>
          <a:prstGeom prst="rect">
            <a:avLst/>
          </a:prstGeom>
          <a:noFill/>
        </p:spPr>
        <p:txBody>
          <a:bodyPr wrap="square">
            <a:spAutoFit/>
          </a:bodyPr>
          <a:lstStyle/>
          <a:p>
            <a:pPr algn="l"/>
            <a:r>
              <a:rPr sz="1100" b="0" i="1">
                <a:solidFill>
                  <a:srgbClr val="4A4A6A"/>
                </a:solidFill>
                <a:latin typeface="Times New Roman"/>
              </a:rPr>
              <a:t>March, September, October and December convert at 44–51% but receive very few calls.</a:t>
            </a:r>
          </a:p>
        </p:txBody>
      </p:sp>
      <p:sp>
        <p:nvSpPr>
          <p:cNvPr id="19" name="Rectangle 18"/>
          <p:cNvSpPr/>
          <p:nvPr/>
        </p:nvSpPr>
        <p:spPr>
          <a:xfrm>
            <a:off x="365760" y="4791456"/>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0352" y="4791456"/>
            <a:ext cx="5257800" cy="347472"/>
          </a:xfrm>
          <a:prstGeom prst="rect">
            <a:avLst/>
          </a:prstGeom>
          <a:noFill/>
        </p:spPr>
        <p:txBody>
          <a:bodyPr wrap="square">
            <a:spAutoFit/>
          </a:bodyPr>
          <a:lstStyle/>
          <a:p>
            <a:pPr algn="l"/>
            <a:r>
              <a:rPr sz="1200" b="1" i="0">
                <a:solidFill>
                  <a:srgbClr val="1A2E4A"/>
                </a:solidFill>
                <a:latin typeface="Times New Roman"/>
              </a:rPr>
              <a:t>Segments are clear.</a:t>
            </a:r>
          </a:p>
        </p:txBody>
      </p:sp>
      <p:sp>
        <p:nvSpPr>
          <p:cNvPr id="21" name="TextBox 20"/>
          <p:cNvSpPr txBox="1"/>
          <p:nvPr/>
        </p:nvSpPr>
        <p:spPr>
          <a:xfrm>
            <a:off x="530352" y="5120640"/>
            <a:ext cx="5257800" cy="384048"/>
          </a:xfrm>
          <a:prstGeom prst="rect">
            <a:avLst/>
          </a:prstGeom>
          <a:noFill/>
        </p:spPr>
        <p:txBody>
          <a:bodyPr wrap="square">
            <a:spAutoFit/>
          </a:bodyPr>
          <a:lstStyle/>
          <a:p>
            <a:pPr algn="l"/>
            <a:r>
              <a:rPr sz="1100" b="0" i="1">
                <a:solidFill>
                  <a:srgbClr val="4A4A6A"/>
                </a:solidFill>
                <a:latin typeface="Times New Roman"/>
              </a:rPr>
              <a:t>Students (31%) and retirees (25%) subscribe far above average. Blue-collar workers (7%) far below.</a:t>
            </a:r>
          </a:p>
        </p:txBody>
      </p:sp>
      <p:sp>
        <p:nvSpPr>
          <p:cNvPr id="22" name="Rectangle 21"/>
          <p:cNvSpPr/>
          <p:nvPr/>
        </p:nvSpPr>
        <p:spPr>
          <a:xfrm>
            <a:off x="365760" y="5687568"/>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5687568"/>
            <a:ext cx="5257800" cy="347472"/>
          </a:xfrm>
          <a:prstGeom prst="rect">
            <a:avLst/>
          </a:prstGeom>
          <a:noFill/>
        </p:spPr>
        <p:txBody>
          <a:bodyPr wrap="square">
            <a:spAutoFit/>
          </a:bodyPr>
          <a:lstStyle/>
          <a:p>
            <a:pPr algn="l"/>
            <a:r>
              <a:rPr sz="1200" b="1" i="0">
                <a:solidFill>
                  <a:srgbClr val="1A2E4A"/>
                </a:solidFill>
                <a:latin typeface="Times New Roman"/>
              </a:rPr>
              <a:t>Missing data speaks.</a:t>
            </a:r>
          </a:p>
        </p:txBody>
      </p:sp>
      <p:sp>
        <p:nvSpPr>
          <p:cNvPr id="24" name="TextBox 23"/>
          <p:cNvSpPr txBox="1"/>
          <p:nvPr/>
        </p:nvSpPr>
        <p:spPr>
          <a:xfrm>
            <a:off x="530352" y="6016752"/>
            <a:ext cx="5257800" cy="384048"/>
          </a:xfrm>
          <a:prstGeom prst="rect">
            <a:avLst/>
          </a:prstGeom>
          <a:noFill/>
        </p:spPr>
        <p:txBody>
          <a:bodyPr wrap="square">
            <a:spAutoFit/>
          </a:bodyPr>
          <a:lstStyle/>
          <a:p>
            <a:pPr algn="l"/>
            <a:r>
              <a:rPr sz="1100" b="0" i="1">
                <a:solidFill>
                  <a:srgbClr val="4A4A6A"/>
                </a:solidFill>
                <a:latin typeface="Times New Roman"/>
              </a:rPr>
              <a:t>Customers who withhold credit-default status subscribe at less than half the usual rate.</a:t>
            </a:r>
          </a:p>
        </p:txBody>
      </p:sp>
      <p:sp>
        <p:nvSpPr>
          <p:cNvPr id="25" name="Rectangle 24"/>
          <p:cNvSpPr/>
          <p:nvPr/>
        </p:nvSpPr>
        <p:spPr>
          <a:xfrm>
            <a:off x="6217920" y="1463040"/>
            <a:ext cx="5669280" cy="4846320"/>
          </a:xfrm>
          <a:prstGeom prst="rect">
            <a:avLst/>
          </a:prstGeom>
          <a:solidFill>
            <a:srgbClr val="1A2E4A"/>
          </a:solidFill>
          <a:ln w="12700">
            <a:solidFill>
              <a:srgbClr val="C9A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1600200"/>
            <a:ext cx="5394960" cy="347472"/>
          </a:xfrm>
          <a:prstGeom prst="rect">
            <a:avLst/>
          </a:prstGeom>
          <a:noFill/>
        </p:spPr>
        <p:txBody>
          <a:bodyPr wrap="square">
            <a:spAutoFit/>
          </a:bodyPr>
          <a:lstStyle/>
          <a:p>
            <a:pPr algn="l"/>
            <a:r>
              <a:rPr sz="1200" b="1" i="0">
                <a:solidFill>
                  <a:srgbClr val="C9A02A"/>
                </a:solidFill>
                <a:latin typeface="Times New Roman"/>
              </a:rPr>
              <a:t>WHAT THE BANK SHOULD DO</a:t>
            </a:r>
          </a:p>
        </p:txBody>
      </p:sp>
      <p:sp>
        <p:nvSpPr>
          <p:cNvPr id="27" name="Rectangle 26"/>
          <p:cNvSpPr/>
          <p:nvPr/>
        </p:nvSpPr>
        <p:spPr>
          <a:xfrm>
            <a:off x="6355080" y="1975104"/>
            <a:ext cx="5394960"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55080" y="2103120"/>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9672" y="2103120"/>
            <a:ext cx="5257800" cy="347472"/>
          </a:xfrm>
          <a:prstGeom prst="rect">
            <a:avLst/>
          </a:prstGeom>
          <a:noFill/>
        </p:spPr>
        <p:txBody>
          <a:bodyPr wrap="square">
            <a:spAutoFit/>
          </a:bodyPr>
          <a:lstStyle/>
          <a:p>
            <a:pPr algn="l"/>
            <a:r>
              <a:rPr sz="1200" b="1" i="0">
                <a:solidFill>
                  <a:srgbClr val="FFFFFF"/>
                </a:solidFill>
                <a:latin typeface="Times New Roman"/>
              </a:rPr>
              <a:t>Score every lead before calling.</a:t>
            </a:r>
          </a:p>
        </p:txBody>
      </p:sp>
      <p:sp>
        <p:nvSpPr>
          <p:cNvPr id="30" name="TextBox 29"/>
          <p:cNvSpPr txBox="1"/>
          <p:nvPr/>
        </p:nvSpPr>
        <p:spPr>
          <a:xfrm>
            <a:off x="6519672" y="2432304"/>
            <a:ext cx="5257800" cy="384048"/>
          </a:xfrm>
          <a:prstGeom prst="rect">
            <a:avLst/>
          </a:prstGeom>
          <a:noFill/>
        </p:spPr>
        <p:txBody>
          <a:bodyPr wrap="square">
            <a:spAutoFit/>
          </a:bodyPr>
          <a:lstStyle/>
          <a:p>
            <a:pPr algn="l"/>
            <a:r>
              <a:rPr sz="1100" b="0" i="1">
                <a:solidFill>
                  <a:srgbClr val="BBCCDD"/>
                </a:solidFill>
                <a:latin typeface="Times New Roman"/>
              </a:rPr>
              <a:t>Use Gradient Boosting to rank customers from most to least likely to subscribe.</a:t>
            </a:r>
          </a:p>
        </p:txBody>
      </p:sp>
      <p:sp>
        <p:nvSpPr>
          <p:cNvPr id="31" name="Rectangle 30"/>
          <p:cNvSpPr/>
          <p:nvPr/>
        </p:nvSpPr>
        <p:spPr>
          <a:xfrm>
            <a:off x="6355080" y="2999232"/>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19672" y="2999232"/>
            <a:ext cx="5257800" cy="347472"/>
          </a:xfrm>
          <a:prstGeom prst="rect">
            <a:avLst/>
          </a:prstGeom>
          <a:noFill/>
        </p:spPr>
        <p:txBody>
          <a:bodyPr wrap="square">
            <a:spAutoFit/>
          </a:bodyPr>
          <a:lstStyle/>
          <a:p>
            <a:pPr algn="l"/>
            <a:r>
              <a:rPr sz="1200" b="1" i="0">
                <a:solidFill>
                  <a:srgbClr val="FFFFFF"/>
                </a:solidFill>
                <a:latin typeface="Times New Roman"/>
              </a:rPr>
              <a:t>Prioritise past subscribers.</a:t>
            </a:r>
          </a:p>
        </p:txBody>
      </p:sp>
      <p:sp>
        <p:nvSpPr>
          <p:cNvPr id="33" name="TextBox 32"/>
          <p:cNvSpPr txBox="1"/>
          <p:nvPr/>
        </p:nvSpPr>
        <p:spPr>
          <a:xfrm>
            <a:off x="6519672" y="3328416"/>
            <a:ext cx="5257800" cy="384048"/>
          </a:xfrm>
          <a:prstGeom prst="rect">
            <a:avLst/>
          </a:prstGeom>
          <a:noFill/>
        </p:spPr>
        <p:txBody>
          <a:bodyPr wrap="square">
            <a:spAutoFit/>
          </a:bodyPr>
          <a:lstStyle/>
          <a:p>
            <a:pPr algn="l"/>
            <a:r>
              <a:rPr sz="1100" b="0" i="1">
                <a:solidFill>
                  <a:srgbClr val="BBCCDD"/>
                </a:solidFill>
                <a:latin typeface="Times New Roman"/>
              </a:rPr>
              <a:t>Systematically re-contact customers who subscribed in previous campaigns.</a:t>
            </a:r>
          </a:p>
        </p:txBody>
      </p:sp>
      <p:sp>
        <p:nvSpPr>
          <p:cNvPr id="34" name="Rectangle 33"/>
          <p:cNvSpPr/>
          <p:nvPr/>
        </p:nvSpPr>
        <p:spPr>
          <a:xfrm>
            <a:off x="6355080" y="3895344"/>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19672" y="3895344"/>
            <a:ext cx="5257800" cy="347472"/>
          </a:xfrm>
          <a:prstGeom prst="rect">
            <a:avLst/>
          </a:prstGeom>
          <a:noFill/>
        </p:spPr>
        <p:txBody>
          <a:bodyPr wrap="square">
            <a:spAutoFit/>
          </a:bodyPr>
          <a:lstStyle/>
          <a:p>
            <a:pPr algn="l"/>
            <a:r>
              <a:rPr sz="1200" b="1" i="0">
                <a:solidFill>
                  <a:srgbClr val="FFFFFF"/>
                </a:solidFill>
                <a:latin typeface="Times New Roman"/>
              </a:rPr>
              <a:t>Rebalance the campaign calendar.</a:t>
            </a:r>
          </a:p>
        </p:txBody>
      </p:sp>
      <p:sp>
        <p:nvSpPr>
          <p:cNvPr id="36" name="TextBox 35"/>
          <p:cNvSpPr txBox="1"/>
          <p:nvPr/>
        </p:nvSpPr>
        <p:spPr>
          <a:xfrm>
            <a:off x="6519672" y="4224528"/>
            <a:ext cx="5257800" cy="384048"/>
          </a:xfrm>
          <a:prstGeom prst="rect">
            <a:avLst/>
          </a:prstGeom>
          <a:noFill/>
        </p:spPr>
        <p:txBody>
          <a:bodyPr wrap="square">
            <a:spAutoFit/>
          </a:bodyPr>
          <a:lstStyle/>
          <a:p>
            <a:pPr algn="l"/>
            <a:r>
              <a:rPr sz="1100" b="0" i="1">
                <a:solidFill>
                  <a:srgbClr val="BBCCDD"/>
                </a:solidFill>
                <a:latin typeface="Times New Roman"/>
              </a:rPr>
              <a:t>Shift effort toward March, September, October and December — away from May.</a:t>
            </a:r>
          </a:p>
        </p:txBody>
      </p:sp>
      <p:sp>
        <p:nvSpPr>
          <p:cNvPr id="37" name="Rectangle 36"/>
          <p:cNvSpPr/>
          <p:nvPr/>
        </p:nvSpPr>
        <p:spPr>
          <a:xfrm>
            <a:off x="6355080" y="4791456"/>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19672" y="4791456"/>
            <a:ext cx="5257800" cy="347472"/>
          </a:xfrm>
          <a:prstGeom prst="rect">
            <a:avLst/>
          </a:prstGeom>
          <a:noFill/>
        </p:spPr>
        <p:txBody>
          <a:bodyPr wrap="square">
            <a:spAutoFit/>
          </a:bodyPr>
          <a:lstStyle/>
          <a:p>
            <a:pPr algn="l"/>
            <a:r>
              <a:rPr sz="1200" b="1" i="0">
                <a:solidFill>
                  <a:srgbClr val="FFFFFF"/>
                </a:solidFill>
                <a:latin typeface="Times New Roman"/>
              </a:rPr>
              <a:t>Target the right segments.</a:t>
            </a:r>
          </a:p>
        </p:txBody>
      </p:sp>
      <p:sp>
        <p:nvSpPr>
          <p:cNvPr id="39" name="TextBox 38"/>
          <p:cNvSpPr txBox="1"/>
          <p:nvPr/>
        </p:nvSpPr>
        <p:spPr>
          <a:xfrm>
            <a:off x="6519672" y="5120640"/>
            <a:ext cx="5257800" cy="384048"/>
          </a:xfrm>
          <a:prstGeom prst="rect">
            <a:avLst/>
          </a:prstGeom>
          <a:noFill/>
        </p:spPr>
        <p:txBody>
          <a:bodyPr wrap="square">
            <a:spAutoFit/>
          </a:bodyPr>
          <a:lstStyle/>
          <a:p>
            <a:pPr algn="l"/>
            <a:r>
              <a:rPr sz="1100" b="0" i="1">
                <a:solidFill>
                  <a:srgbClr val="BBCCDD"/>
                </a:solidFill>
                <a:latin typeface="Times New Roman"/>
              </a:rPr>
              <a:t>Focus on students, retirees and customers reachable on mobile.</a:t>
            </a:r>
          </a:p>
        </p:txBody>
      </p:sp>
      <p:sp>
        <p:nvSpPr>
          <p:cNvPr id="40" name="Rectangle 39"/>
          <p:cNvSpPr/>
          <p:nvPr/>
        </p:nvSpPr>
        <p:spPr>
          <a:xfrm>
            <a:off x="6355080" y="5687568"/>
            <a:ext cx="73152" cy="64008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19672" y="5687568"/>
            <a:ext cx="5257800" cy="347472"/>
          </a:xfrm>
          <a:prstGeom prst="rect">
            <a:avLst/>
          </a:prstGeom>
          <a:noFill/>
        </p:spPr>
        <p:txBody>
          <a:bodyPr wrap="square">
            <a:spAutoFit/>
          </a:bodyPr>
          <a:lstStyle/>
          <a:p>
            <a:pPr algn="l"/>
            <a:r>
              <a:rPr sz="1200" b="1" i="0">
                <a:solidFill>
                  <a:srgbClr val="FFFFFF"/>
                </a:solidFill>
                <a:latin typeface="Times New Roman"/>
              </a:rPr>
              <a:t>Time campaigns to interest-rate conditions.</a:t>
            </a:r>
          </a:p>
        </p:txBody>
      </p:sp>
      <p:sp>
        <p:nvSpPr>
          <p:cNvPr id="42" name="TextBox 41"/>
          <p:cNvSpPr txBox="1"/>
          <p:nvPr/>
        </p:nvSpPr>
        <p:spPr>
          <a:xfrm>
            <a:off x="6519672" y="6016752"/>
            <a:ext cx="5257800" cy="384048"/>
          </a:xfrm>
          <a:prstGeom prst="rect">
            <a:avLst/>
          </a:prstGeom>
          <a:noFill/>
        </p:spPr>
        <p:txBody>
          <a:bodyPr wrap="square">
            <a:spAutoFit/>
          </a:bodyPr>
          <a:lstStyle/>
          <a:p>
            <a:pPr algn="l"/>
            <a:r>
              <a:rPr sz="1100" b="0" i="1">
                <a:solidFill>
                  <a:srgbClr val="BBCCDD"/>
                </a:solidFill>
                <a:latin typeface="Times New Roman"/>
              </a:rPr>
              <a:t>Run campaigns when euribor3m signals a favourable savings environment.</a:t>
            </a:r>
          </a:p>
        </p:txBody>
      </p:sp>
      <p:sp>
        <p:nvSpPr>
          <p:cNvPr id="43" name="TextBox 42"/>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44" name="TextBox 43"/>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7 of 8</a:t>
            </a:r>
          </a:p>
        </p:txBody>
      </p:sp>
      <p:sp>
        <p:nvSpPr>
          <p:cNvPr id="45" name="Rectangle 44"/>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188720"/>
            <a:ext cx="12188952" cy="64008"/>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
            <a:ext cx="10972800" cy="868680"/>
          </a:xfrm>
          <a:prstGeom prst="rect">
            <a:avLst/>
          </a:prstGeom>
          <a:noFill/>
        </p:spPr>
        <p:txBody>
          <a:bodyPr wrap="square">
            <a:spAutoFit/>
          </a:bodyPr>
          <a:lstStyle/>
          <a:p>
            <a:pPr algn="ctr"/>
            <a:r>
              <a:rPr sz="3600" b="1" i="0">
                <a:solidFill>
                  <a:srgbClr val="FFFFFF"/>
                </a:solidFill>
                <a:latin typeface="Times New Roman"/>
              </a:rPr>
              <a:t>Conclusion</a:t>
            </a:r>
          </a:p>
        </p:txBody>
      </p:sp>
      <p:sp>
        <p:nvSpPr>
          <p:cNvPr id="5" name="TextBox 4"/>
          <p:cNvSpPr txBox="1"/>
          <p:nvPr/>
        </p:nvSpPr>
        <p:spPr>
          <a:xfrm>
            <a:off x="914400" y="1463040"/>
            <a:ext cx="10332720" cy="2926080"/>
          </a:xfrm>
          <a:prstGeom prst="rect">
            <a:avLst/>
          </a:prstGeom>
          <a:noFill/>
        </p:spPr>
        <p:txBody>
          <a:bodyPr wrap="square">
            <a:spAutoFit/>
          </a:bodyPr>
          <a:lstStyle/>
          <a:p>
            <a:pPr algn="l"/>
            <a:r>
              <a:rPr sz="1600" b="0" i="0">
                <a:solidFill>
                  <a:srgbClr val="FFFFFF"/>
                </a:solidFill>
                <a:latin typeface="Times New Roman"/>
              </a:rPr>
              <a:t>The bank was converting only 11% of its calls because agents were calling without guidance. Using 41,188 records, we cleaned hidden data gaps, built leakage-free features, resolved multicollinearity, handled severe class imbalance, and compared four models on business-relevant metrics.
Machine learning revealed that when you call matters as much as who you call, that past subscribers are six times more likely to convert than new contacts, and that the bank's heaviest calling month is its weakest. Gradient Boosting (ROC-AUC 0.813) ranks leads most accurately; Logistic Regression explains the decisions to stakeholders. Together they give the bank a system to achieve the same number of subscriptions from far fewer calls.</a:t>
            </a:r>
          </a:p>
        </p:txBody>
      </p:sp>
      <p:sp>
        <p:nvSpPr>
          <p:cNvPr id="6" name="Rectangle 5"/>
          <p:cNvSpPr/>
          <p:nvPr/>
        </p:nvSpPr>
        <p:spPr>
          <a:xfrm>
            <a:off x="548640" y="4663440"/>
            <a:ext cx="11064240" cy="1234440"/>
          </a:xfrm>
          <a:prstGeom prst="rect">
            <a:avLst/>
          </a:prstGeom>
          <a:solidFill>
            <a:srgbClr val="254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4663440"/>
            <a:ext cx="109728" cy="1234440"/>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4736592"/>
            <a:ext cx="3657600" cy="365760"/>
          </a:xfrm>
          <a:prstGeom prst="rect">
            <a:avLst/>
          </a:prstGeom>
          <a:noFill/>
        </p:spPr>
        <p:txBody>
          <a:bodyPr wrap="square">
            <a:spAutoFit/>
          </a:bodyPr>
          <a:lstStyle/>
          <a:p>
            <a:pPr algn="l"/>
            <a:r>
              <a:rPr sz="1300" b="1" i="0">
                <a:solidFill>
                  <a:srgbClr val="C9A02A"/>
                </a:solidFill>
                <a:latin typeface="Times New Roman"/>
              </a:rPr>
              <a:t>The Bottom Line</a:t>
            </a:r>
          </a:p>
        </p:txBody>
      </p:sp>
      <p:sp>
        <p:nvSpPr>
          <p:cNvPr id="9" name="TextBox 8"/>
          <p:cNvSpPr txBox="1"/>
          <p:nvPr/>
        </p:nvSpPr>
        <p:spPr>
          <a:xfrm>
            <a:off x="822960" y="5102352"/>
            <a:ext cx="10515600" cy="685800"/>
          </a:xfrm>
          <a:prstGeom prst="rect">
            <a:avLst/>
          </a:prstGeom>
          <a:noFill/>
        </p:spPr>
        <p:txBody>
          <a:bodyPr wrap="square">
            <a:spAutoFit/>
          </a:bodyPr>
          <a:lstStyle/>
          <a:p>
            <a:pPr algn="l"/>
            <a:r>
              <a:rPr sz="1600" b="0" i="0">
                <a:solidFill>
                  <a:srgbClr val="FFFFFF"/>
                </a:solidFill>
                <a:latin typeface="Times New Roman"/>
              </a:rPr>
              <a:t>Let the model decide who to call. Lower cost, higher conversion, decisions grounded in evidence.</a:t>
            </a:r>
          </a:p>
        </p:txBody>
      </p:sp>
      <p:sp>
        <p:nvSpPr>
          <p:cNvPr id="10" name="TextBox 9"/>
          <p:cNvSpPr txBox="1"/>
          <p:nvPr/>
        </p:nvSpPr>
        <p:spPr>
          <a:xfrm>
            <a:off x="274320" y="6492240"/>
            <a:ext cx="5486400" cy="320040"/>
          </a:xfrm>
          <a:prstGeom prst="rect">
            <a:avLst/>
          </a:prstGeom>
          <a:noFill/>
        </p:spPr>
        <p:txBody>
          <a:bodyPr wrap="square">
            <a:spAutoFit/>
          </a:bodyPr>
          <a:lstStyle/>
          <a:p>
            <a:pPr algn="l"/>
            <a:r>
              <a:rPr sz="1000" b="0" i="1">
                <a:solidFill>
                  <a:srgbClr val="4A4A6A"/>
                </a:solidFill>
                <a:latin typeface="Times New Roman"/>
              </a:rPr>
              <a:t>Bank Marketing ML Project</a:t>
            </a:r>
          </a:p>
        </p:txBody>
      </p:sp>
      <p:sp>
        <p:nvSpPr>
          <p:cNvPr id="11" name="TextBox 10"/>
          <p:cNvSpPr txBox="1"/>
          <p:nvPr/>
        </p:nvSpPr>
        <p:spPr>
          <a:xfrm>
            <a:off x="9601200" y="6492240"/>
            <a:ext cx="2286000" cy="320040"/>
          </a:xfrm>
          <a:prstGeom prst="rect">
            <a:avLst/>
          </a:prstGeom>
          <a:noFill/>
        </p:spPr>
        <p:txBody>
          <a:bodyPr wrap="square">
            <a:spAutoFit/>
          </a:bodyPr>
          <a:lstStyle/>
          <a:p>
            <a:pPr algn="r"/>
            <a:r>
              <a:rPr sz="1000" b="0" i="0">
                <a:solidFill>
                  <a:srgbClr val="4A4A6A"/>
                </a:solidFill>
                <a:latin typeface="Times New Roman"/>
              </a:rPr>
              <a:t>Slide 8 of 8</a:t>
            </a:r>
          </a:p>
        </p:txBody>
      </p:sp>
      <p:sp>
        <p:nvSpPr>
          <p:cNvPr id="12" name="Rectangle 11"/>
          <p:cNvSpPr/>
          <p:nvPr/>
        </p:nvSpPr>
        <p:spPr>
          <a:xfrm>
            <a:off x="0" y="6446520"/>
            <a:ext cx="12188952" cy="36576"/>
          </a:xfrm>
          <a:prstGeom prst="rect">
            <a:avLst/>
          </a:prstGeom>
          <a:solidFill>
            <a:srgbClr val="C9A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102</TotalTime>
  <Words>1109</Words>
  <Application>Microsoft Office PowerPoint</Application>
  <PresentationFormat>Custom</PresentationFormat>
  <Paragraphs>168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Heena Kauser</cp:lastModifiedBy>
  <cp:revision>2</cp:revision>
  <dcterms:created xsi:type="dcterms:W3CDTF">2013-01-27T09:14:16Z</dcterms:created>
  <dcterms:modified xsi:type="dcterms:W3CDTF">2026-07-19T14:35:01Z</dcterms:modified>
  <cp:category/>
</cp:coreProperties>
</file>